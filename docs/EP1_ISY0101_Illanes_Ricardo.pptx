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86" r:id="rId2"/>
    <p:sldId id="271" r:id="rId3"/>
    <p:sldId id="282" r:id="rId4"/>
    <p:sldId id="283" r:id="rId5"/>
    <p:sldId id="274" r:id="rId6"/>
    <p:sldId id="284" r:id="rId7"/>
    <p:sldId id="276" r:id="rId8"/>
    <p:sldId id="277" r:id="rId9"/>
    <p:sldId id="285" r:id="rId10"/>
    <p:sldId id="279" r:id="rId11"/>
    <p:sldId id="280" r:id="rId12"/>
    <p:sldId id="28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6" y="1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372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Presentarse y nombrar el caso y la idea central en una frase: un agente que responde consultas de clientes usando solo fuentes verificables, internas y externas.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organización y que los números son del escenario contextualizado. Remarcar el riesgo legal: no es solo eficiencia, también es cumplimiento.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objetivo tiene una métrica y un script que la calcula en el repositorio. Esto conecta con la diapositiva de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dos colecciones separadas: el agente decide cuándo consultar la ley, y la cita permite distinguir política de la empresa y normativa. Los pedidos no se vectorizan: necesitan coincidencia exacta.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src/prompts.py en vivo si hay tiempo. Justificar cada bloque con un requerimiento (R2, R3, R5).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secuencia con el ejemplo de la lavadora. Detalle clave: el score se calcula antes de inyectar el contexto; lo que queda bajo el umbral no llega al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de izquierda a derecha: guardrails, agente, LLM, herramientas, retriever, colecciones. Luego la ingesta offline arriba. Terminar en la derivación a humano y la traza para evaluación. Diagrama en docs/arquitectura.mmd.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parte que debes explicar con tus propias palabras (IE8). Preparar el "por qué" de cada tarjeta y una alternativa descartada.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captura o repetir en vivo con --debug. Remarcar que la traza muestra herramienta, fuente y score, y que todo lo que dice la respuesta está en el registro: eso es fidelidad. Luego mostrar el caso TH-10425 como ejemplo de no alucinación.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qué mide cada métrica (clase 1.3.1). Comparar léxico vs semántico con Q14. Explicar el compromiso precisión/recall del umbral y que la fidelidad quedó pendiente por los límites de la API gratuita.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conoces los límites del modelo (IL1.4).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volviendo al problema: 26 horas de espera y respuestas inconsistentes frente a respuestas en segundos, con fuente citada. Abrir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11074400" y="0"/>
            <a:ext cx="1117600" cy="68580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pine text"/>
          <p:cNvSpPr/>
          <p:nvPr/>
        </p:nvSpPr>
        <p:spPr>
          <a:xfrm rot="16200000">
            <a:off x="8331200" y="3022600"/>
            <a:ext cx="6604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spc="300" dirty="0">
                <a:solidFill>
                  <a:srgbClr val="121212"/>
                </a:solidFill>
                <a:latin typeface="Consolas"/>
                <a:cs typeface="Consolas"/>
              </a:rPr>
              <a:t>LLM + RAG  ·  AGENTE TECNOHOGAR  ·  2026</a:t>
            </a:r>
          </a:p>
        </p:txBody>
      </p:sp>
      <p:sp>
        <p:nvSpPr>
          <p:cNvPr id="102" name="Kicker"/>
          <p:cNvSpPr/>
          <p:nvPr/>
        </p:nvSpPr>
        <p:spPr>
          <a:xfrm>
            <a:off x="812800" y="711200"/>
            <a:ext cx="3810000" cy="355600"/>
          </a:xfrm>
          <a:prstGeom prst="rect">
            <a:avLst/>
          </a:prstGeom>
          <a:noFill/>
          <a:ln w="19050">
            <a:solidFill>
              <a:srgbClr val="D7FF3C"/>
            </a:solidFill>
          </a:ln>
        </p:spPr>
        <p:txBody>
          <a:bodyPr wrap="square" lIns="127000" tIns="127000" rIns="127000" bIns="127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100" dirty="0">
                <a:solidFill>
                  <a:srgbClr val="D7FF3C"/>
                </a:solidFill>
                <a:latin typeface="Consolas"/>
                <a:cs typeface="Consolas"/>
              </a:rPr>
              <a:t>ISY0101 · EVALUACIÓN PARCIAL N°1</a:t>
            </a:r>
          </a:p>
        </p:txBody>
      </p:sp>
      <p:sp>
        <p:nvSpPr>
          <p:cNvPr id="103" name="Title"/>
          <p:cNvSpPr/>
          <p:nvPr/>
        </p:nvSpPr>
        <p:spPr>
          <a:xfrm>
            <a:off x="812800" y="1320800"/>
            <a:ext cx="9906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b="0" dirty="0">
                <a:solidFill>
                  <a:srgbClr val="F3EEE4"/>
                </a:solidFill>
                <a:latin typeface="Arial Black"/>
                <a:cs typeface="Arial Black"/>
              </a:rPr>
              <a:t>TecnoHogar: atención al cliente con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600" b="0" dirty="0">
                <a:solidFill>
                  <a:srgbClr val="D7FF3C"/>
                </a:solidFill>
                <a:latin typeface="Arial Black"/>
                <a:cs typeface="Arial Black"/>
              </a:rPr>
              <a:t>LLM + RAG</a:t>
            </a:r>
          </a:p>
        </p:txBody>
      </p:sp>
      <p:sp>
        <p:nvSpPr>
          <p:cNvPr id="104" name="Subtitle"/>
          <p:cNvSpPr/>
          <p:nvPr/>
        </p:nvSpPr>
        <p:spPr>
          <a:xfrm>
            <a:off x="812800" y="40386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dirty="0">
                <a:solidFill>
                  <a:srgbClr val="D9D3C7"/>
                </a:solidFill>
                <a:latin typeface="Arial"/>
                <a:cs typeface="Arial"/>
              </a:rPr>
              <a:t>Agente para TecnoHogar SpA que combina políticas internas y la Ley del Consumidor, con fuentes citadas en cada respuesta</a:t>
            </a:r>
          </a:p>
        </p:txBody>
      </p:sp>
      <p:sp>
        <p:nvSpPr>
          <p:cNvPr id="105" name="Code strip"/>
          <p:cNvSpPr/>
          <p:nvPr/>
        </p:nvSpPr>
        <p:spPr>
          <a:xfrm>
            <a:off x="812800" y="5130800"/>
            <a:ext cx="9906000" cy="558800"/>
          </a:xfrm>
          <a:prstGeom prst="rect">
            <a:avLst/>
          </a:prstGeom>
          <a:noFill/>
          <a:ln w="12700">
            <a:solidFill>
              <a:srgbClr val="3A3A3A"/>
            </a:solidFill>
          </a:ln>
        </p:spPr>
        <p:txBody>
          <a:bodyPr wrap="square" lIns="127000" tIns="127000" rIns="127000" bIns="1270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dirty="0">
                <a:solidFill>
                  <a:srgbClr val="8C877E"/>
                </a:solidFill>
                <a:latin typeface="Consolas"/>
                <a:cs typeface="Consolas"/>
              </a:rPr>
              <a:t>&lt;fragmento fuente="…" seccion="…" score="…"&gt;  →  Gemini  →  Fuentes: archivo §sección</a:t>
            </a:r>
          </a:p>
        </p:txBody>
      </p:sp>
      <p:sp>
        <p:nvSpPr>
          <p:cNvPr id="106" name="Author"/>
          <p:cNvSpPr/>
          <p:nvPr/>
        </p:nvSpPr>
        <p:spPr>
          <a:xfrm>
            <a:off x="812800" y="61722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F3EEE4"/>
                </a:solidFill>
                <a:latin typeface="Consolas"/>
                <a:cs typeface="Consolas"/>
              </a:rPr>
              <a:t>Ricardo Illanes</a:t>
            </a:r>
            <a:r>
              <a:rPr lang="es-CL" sz="1200" b="0" dirty="0">
                <a:solidFill>
                  <a:srgbClr val="A8A298"/>
                </a:solidFill>
                <a:latin typeface="Consolas"/>
                <a:cs typeface="Consolas"/>
              </a:rPr>
              <a:t>  ·  Docente: Cristián R. Araya Salazar  ·  Duoc UC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B55EC9-7A8E-FAEF-CC7D-8541E1F95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380" y="413752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00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01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EL CASO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02/12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Atención lenta, repetitiva y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con riesgo legal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Card 1"/>
          <p:cNvSpPr/>
          <p:nvPr/>
        </p:nvSpPr>
        <p:spPr>
          <a:xfrm>
            <a:off x="1219200" y="1854200"/>
            <a:ext cx="3276600" cy="2362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889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7" name="Stat 1"/>
          <p:cNvSpPr/>
          <p:nvPr/>
        </p:nvSpPr>
        <p:spPr>
          <a:xfrm>
            <a:off x="1447800" y="2006600"/>
            <a:ext cx="2870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0" dirty="0">
                <a:solidFill>
                  <a:srgbClr val="121212"/>
                </a:solidFill>
                <a:latin typeface="Arial Black"/>
                <a:cs typeface="Arial Black"/>
              </a:rPr>
              <a:t>1.800</a:t>
            </a:r>
          </a:p>
        </p:txBody>
      </p:sp>
      <p:sp>
        <p:nvSpPr>
          <p:cNvPr id="108" name="Stat label 1"/>
          <p:cNvSpPr/>
          <p:nvPr/>
        </p:nvSpPr>
        <p:spPr>
          <a:xfrm>
            <a:off x="1447800" y="3200400"/>
            <a:ext cx="2870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consultas al mes para solo 3 ejecutivos</a:t>
            </a:r>
          </a:p>
        </p:txBody>
      </p:sp>
      <p:sp>
        <p:nvSpPr>
          <p:cNvPr id="109" name="Card 2"/>
          <p:cNvSpPr/>
          <p:nvPr/>
        </p:nvSpPr>
        <p:spPr>
          <a:xfrm>
            <a:off x="4787900" y="1854200"/>
            <a:ext cx="3276600" cy="2362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889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0" name="Stat 2"/>
          <p:cNvSpPr/>
          <p:nvPr/>
        </p:nvSpPr>
        <p:spPr>
          <a:xfrm>
            <a:off x="5016500" y="2006600"/>
            <a:ext cx="2870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0" dirty="0">
                <a:solidFill>
                  <a:srgbClr val="121212"/>
                </a:solidFill>
                <a:latin typeface="Arial Black"/>
                <a:cs typeface="Arial Black"/>
              </a:rPr>
              <a:t>65%</a:t>
            </a:r>
          </a:p>
        </p:txBody>
      </p:sp>
      <p:sp>
        <p:nvSpPr>
          <p:cNvPr id="111" name="Stat label 2"/>
          <p:cNvSpPr/>
          <p:nvPr/>
        </p:nvSpPr>
        <p:spPr>
          <a:xfrm>
            <a:off x="5016500" y="3200400"/>
            <a:ext cx="2870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son repetitivas: pedidos, despachos, garantías y devoluciones</a:t>
            </a:r>
          </a:p>
        </p:txBody>
      </p:sp>
      <p:sp>
        <p:nvSpPr>
          <p:cNvPr id="112" name="Card 3"/>
          <p:cNvSpPr/>
          <p:nvPr/>
        </p:nvSpPr>
        <p:spPr>
          <a:xfrm>
            <a:off x="8356600" y="1854200"/>
            <a:ext cx="3276600" cy="2362200"/>
          </a:xfrm>
          <a:prstGeom prst="rect">
            <a:avLst/>
          </a:prstGeom>
          <a:solidFill>
            <a:srgbClr val="FF4D1C"/>
          </a:solidFill>
          <a:ln w="25400">
            <a:solidFill>
              <a:srgbClr val="121212"/>
            </a:solidFill>
          </a:ln>
          <a:effectLst>
            <a:outerShdw dist="889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3" name="Stat 3"/>
          <p:cNvSpPr/>
          <p:nvPr/>
        </p:nvSpPr>
        <p:spPr>
          <a:xfrm>
            <a:off x="8585200" y="2006600"/>
            <a:ext cx="2870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0" dirty="0">
                <a:solidFill>
                  <a:srgbClr val="121212"/>
                </a:solidFill>
                <a:latin typeface="Arial Black"/>
                <a:cs typeface="Arial Black"/>
              </a:rPr>
              <a:t>26 h</a:t>
            </a:r>
          </a:p>
        </p:txBody>
      </p:sp>
      <p:sp>
        <p:nvSpPr>
          <p:cNvPr id="114" name="Stat label 3"/>
          <p:cNvSpPr/>
          <p:nvPr/>
        </p:nvSpPr>
        <p:spPr>
          <a:xfrm>
            <a:off x="8585200" y="3200400"/>
            <a:ext cx="28702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de espera promedio para la primera respuesta, sin atención de noche</a:t>
            </a:r>
          </a:p>
        </p:txBody>
      </p:sp>
      <p:sp>
        <p:nvSpPr>
          <p:cNvPr id="115" name="Risk strip"/>
          <p:cNvSpPr/>
          <p:nvPr/>
        </p:nvSpPr>
        <p:spPr>
          <a:xfrm>
            <a:off x="1219200" y="4622800"/>
            <a:ext cx="10414000" cy="1219200"/>
          </a:xfrm>
          <a:prstGeom prst="rect">
            <a:avLst/>
          </a:prstGeom>
          <a:solidFill>
            <a:srgbClr val="D7FF3C"/>
          </a:solidFill>
          <a:ln w="25400">
            <a:solidFill>
              <a:srgbClr val="121212"/>
            </a:solidFill>
          </a:ln>
          <a:effectLst>
            <a:outerShdw dist="889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6" name="Risk tag"/>
          <p:cNvSpPr/>
          <p:nvPr/>
        </p:nvSpPr>
        <p:spPr>
          <a:xfrm>
            <a:off x="1422400" y="4826000"/>
            <a:ext cx="1168400" cy="304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200" dirty="0">
                <a:solidFill>
                  <a:srgbClr val="D7FF3C"/>
                </a:solidFill>
                <a:latin typeface="Consolas"/>
                <a:cs typeface="Consolas"/>
              </a:rPr>
              <a:t>ADEMÁS</a:t>
            </a:r>
          </a:p>
        </p:txBody>
      </p:sp>
      <p:sp>
        <p:nvSpPr>
          <p:cNvPr id="117" name="Risk text"/>
          <p:cNvSpPr/>
          <p:nvPr/>
        </p:nvSpPr>
        <p:spPr>
          <a:xfrm>
            <a:off x="2794000" y="4775200"/>
            <a:ext cx="8636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Las respuestas varían según el ejecutivo y a veces contradicen la </a:t>
            </a:r>
            <a:r>
              <a:rPr lang="es-CL" sz="1600" b="1" dirty="0">
                <a:solidFill>
                  <a:srgbClr val="121212"/>
                </a:solidFill>
                <a:latin typeface="Arial"/>
                <a:cs typeface="Arial"/>
              </a:rPr>
              <a:t>Ley 19.496</a:t>
            </a: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 (por ejemplo, ofrecer "solo reparación" dentro de la garantía legal de 6 meses), lo que genera reclamos ante el </a:t>
            </a:r>
            <a:r>
              <a:rPr lang="es-CL" sz="1600" b="1" dirty="0">
                <a:solidFill>
                  <a:srgbClr val="121212"/>
                </a:solidFill>
                <a:latin typeface="Arial"/>
                <a:cs typeface="Arial"/>
              </a:rPr>
              <a:t>SERNAC</a:t>
            </a: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18" name="Footnote"/>
          <p:cNvSpPr/>
          <p:nvPr/>
        </p:nvSpPr>
        <p:spPr>
          <a:xfrm>
            <a:off x="1219200" y="62230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0" dirty="0">
                <a:solidFill>
                  <a:srgbClr val="6B665E"/>
                </a:solidFill>
                <a:latin typeface="Consolas"/>
                <a:cs typeface="Consolas"/>
              </a:rPr>
              <a:t>TecnoHogar SpA · pyme de e-commerce, 35 trabajadores · caso contextualizado con datos simulados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0BDDB4-97B5-DC6D-05E5-863501C22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2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01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OBJETIVOS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03/12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Seis objetivos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medibles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Goal card R1"/>
          <p:cNvSpPr/>
          <p:nvPr/>
        </p:nvSpPr>
        <p:spPr>
          <a:xfrm>
            <a:off x="1219200" y="1854200"/>
            <a:ext cx="327660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7" name="Goal tag R1"/>
          <p:cNvSpPr/>
          <p:nvPr/>
        </p:nvSpPr>
        <p:spPr>
          <a:xfrm>
            <a:off x="1397000" y="2032000"/>
            <a:ext cx="558800" cy="330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D7FF3C"/>
                </a:solidFill>
                <a:latin typeface="Consolas"/>
                <a:cs typeface="Consolas"/>
              </a:rPr>
              <a:t>R1</a:t>
            </a:r>
          </a:p>
        </p:txBody>
      </p:sp>
      <p:sp>
        <p:nvSpPr>
          <p:cNvPr id="108" name="Goal name R1"/>
          <p:cNvSpPr/>
          <p:nvPr/>
        </p:nvSpPr>
        <p:spPr>
          <a:xfrm>
            <a:off x="2082800" y="2032000"/>
            <a:ext cx="2260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rgbClr val="121212"/>
                </a:solidFill>
                <a:latin typeface="Arial"/>
                <a:cs typeface="Arial"/>
              </a:rPr>
              <a:t>Respuesta 24/7</a:t>
            </a:r>
          </a:p>
        </p:txBody>
      </p:sp>
      <p:sp>
        <p:nvSpPr>
          <p:cNvPr id="109" name="Goal meta R1"/>
          <p:cNvSpPr/>
          <p:nvPr/>
        </p:nvSpPr>
        <p:spPr>
          <a:xfrm>
            <a:off x="1397000" y="2514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 Black"/>
                <a:cs typeface="Arial Black"/>
              </a:rPr>
              <a:t>&lt; 10 s en el 95% de las consultas</a:t>
            </a:r>
          </a:p>
        </p:txBody>
      </p:sp>
      <p:sp>
        <p:nvSpPr>
          <p:cNvPr id="110" name="Goal rule R1"/>
          <p:cNvSpPr/>
          <p:nvPr/>
        </p:nvSpPr>
        <p:spPr>
          <a:xfrm>
            <a:off x="1397000" y="3251200"/>
            <a:ext cx="29464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1" name="Goal measure R1"/>
          <p:cNvSpPr/>
          <p:nvPr/>
        </p:nvSpPr>
        <p:spPr>
          <a:xfrm>
            <a:off x="1397000" y="33274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121212"/>
                </a:solidFill>
                <a:latin typeface="Consolas"/>
                <a:cs typeface="Consolas"/>
              </a:rPr>
              <a:t>MIDE › </a:t>
            </a:r>
            <a:r>
              <a:rPr lang="es-CL" sz="1200" b="0" dirty="0">
                <a:solidFill>
                  <a:srgbClr val="121212"/>
                </a:solidFill>
                <a:latin typeface="Consolas"/>
                <a:cs typeface="Consolas"/>
              </a:rPr>
              <a:t>Latencia del agente</a:t>
            </a:r>
          </a:p>
        </p:txBody>
      </p:sp>
      <p:sp>
        <p:nvSpPr>
          <p:cNvPr id="112" name="Goal card R2"/>
          <p:cNvSpPr/>
          <p:nvPr/>
        </p:nvSpPr>
        <p:spPr>
          <a:xfrm>
            <a:off x="4787900" y="1854200"/>
            <a:ext cx="327660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3" name="Goal tag R2"/>
          <p:cNvSpPr/>
          <p:nvPr/>
        </p:nvSpPr>
        <p:spPr>
          <a:xfrm>
            <a:off x="4965700" y="2032000"/>
            <a:ext cx="558800" cy="330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D7FF3C"/>
                </a:solidFill>
                <a:latin typeface="Consolas"/>
                <a:cs typeface="Consolas"/>
              </a:rPr>
              <a:t>R2</a:t>
            </a:r>
          </a:p>
        </p:txBody>
      </p:sp>
      <p:sp>
        <p:nvSpPr>
          <p:cNvPr id="114" name="Goal name R2"/>
          <p:cNvSpPr/>
          <p:nvPr/>
        </p:nvSpPr>
        <p:spPr>
          <a:xfrm>
            <a:off x="5651500" y="2032000"/>
            <a:ext cx="2260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rgbClr val="121212"/>
                </a:solidFill>
                <a:latin typeface="Arial"/>
                <a:cs typeface="Arial"/>
              </a:rPr>
              <a:t>Automatizar</a:t>
            </a:r>
          </a:p>
        </p:txBody>
      </p:sp>
      <p:sp>
        <p:nvSpPr>
          <p:cNvPr id="115" name="Goal meta R2"/>
          <p:cNvSpPr/>
          <p:nvPr/>
        </p:nvSpPr>
        <p:spPr>
          <a:xfrm>
            <a:off x="4965700" y="2514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 Black"/>
                <a:cs typeface="Arial Black"/>
              </a:rPr>
              <a:t>≥ 60% resueltas sin derivar</a:t>
            </a:r>
          </a:p>
        </p:txBody>
      </p:sp>
      <p:sp>
        <p:nvSpPr>
          <p:cNvPr id="116" name="Goal rule R2"/>
          <p:cNvSpPr/>
          <p:nvPr/>
        </p:nvSpPr>
        <p:spPr>
          <a:xfrm>
            <a:off x="4965700" y="3251200"/>
            <a:ext cx="29464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7" name="Goal measure R2"/>
          <p:cNvSpPr/>
          <p:nvPr/>
        </p:nvSpPr>
        <p:spPr>
          <a:xfrm>
            <a:off x="4965700" y="33274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121212"/>
                </a:solidFill>
                <a:latin typeface="Consolas"/>
                <a:cs typeface="Consolas"/>
              </a:rPr>
              <a:t>MIDE › </a:t>
            </a:r>
            <a:r>
              <a:rPr lang="es-CL" sz="1200" b="0" dirty="0">
                <a:solidFill>
                  <a:srgbClr val="121212"/>
                </a:solidFill>
                <a:latin typeface="Consolas"/>
                <a:cs typeface="Consolas"/>
              </a:rPr>
              <a:t>Tasa de derivación</a:t>
            </a:r>
          </a:p>
        </p:txBody>
      </p:sp>
      <p:sp>
        <p:nvSpPr>
          <p:cNvPr id="118" name="Goal card R3"/>
          <p:cNvSpPr/>
          <p:nvPr/>
        </p:nvSpPr>
        <p:spPr>
          <a:xfrm>
            <a:off x="8356600" y="1854200"/>
            <a:ext cx="327660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9" name="Goal tag R3"/>
          <p:cNvSpPr/>
          <p:nvPr/>
        </p:nvSpPr>
        <p:spPr>
          <a:xfrm>
            <a:off x="8534400" y="2032000"/>
            <a:ext cx="558800" cy="330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D7FF3C"/>
                </a:solidFill>
                <a:latin typeface="Consolas"/>
                <a:cs typeface="Consolas"/>
              </a:rPr>
              <a:t>R3</a:t>
            </a:r>
          </a:p>
        </p:txBody>
      </p:sp>
      <p:sp>
        <p:nvSpPr>
          <p:cNvPr id="120" name="Goal name R3"/>
          <p:cNvSpPr/>
          <p:nvPr/>
        </p:nvSpPr>
        <p:spPr>
          <a:xfrm>
            <a:off x="9220200" y="2032000"/>
            <a:ext cx="2260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rgbClr val="121212"/>
                </a:solidFill>
                <a:latin typeface="Arial"/>
                <a:cs typeface="Arial"/>
              </a:rPr>
              <a:t>Respuestas correctas</a:t>
            </a:r>
          </a:p>
        </p:txBody>
      </p:sp>
      <p:sp>
        <p:nvSpPr>
          <p:cNvPr id="121" name="Goal meta R3"/>
          <p:cNvSpPr/>
          <p:nvPr/>
        </p:nvSpPr>
        <p:spPr>
          <a:xfrm>
            <a:off x="8534400" y="2514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 Black"/>
                <a:cs typeface="Arial Black"/>
              </a:rPr>
              <a:t>Fidelidad ≥ 0,90</a:t>
            </a:r>
          </a:p>
        </p:txBody>
      </p:sp>
      <p:sp>
        <p:nvSpPr>
          <p:cNvPr id="122" name="Goal rule R3"/>
          <p:cNvSpPr/>
          <p:nvPr/>
        </p:nvSpPr>
        <p:spPr>
          <a:xfrm>
            <a:off x="8534400" y="3251200"/>
            <a:ext cx="29464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3" name="Goal measure R3"/>
          <p:cNvSpPr/>
          <p:nvPr/>
        </p:nvSpPr>
        <p:spPr>
          <a:xfrm>
            <a:off x="8534400" y="33274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121212"/>
                </a:solidFill>
                <a:latin typeface="Consolas"/>
                <a:cs typeface="Consolas"/>
              </a:rPr>
              <a:t>MIDE › </a:t>
            </a:r>
            <a:r>
              <a:rPr lang="es-CL" sz="1200" b="0" dirty="0">
                <a:solidFill>
                  <a:srgbClr val="121212"/>
                </a:solidFill>
                <a:latin typeface="Consolas"/>
                <a:cs typeface="Consolas"/>
              </a:rPr>
              <a:t>LLM-as-judge</a:t>
            </a:r>
          </a:p>
        </p:txBody>
      </p:sp>
      <p:sp>
        <p:nvSpPr>
          <p:cNvPr id="124" name="Goal card R4"/>
          <p:cNvSpPr/>
          <p:nvPr/>
        </p:nvSpPr>
        <p:spPr>
          <a:xfrm>
            <a:off x="1219200" y="4013200"/>
            <a:ext cx="327660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5" name="Goal tag R4"/>
          <p:cNvSpPr/>
          <p:nvPr/>
        </p:nvSpPr>
        <p:spPr>
          <a:xfrm>
            <a:off x="1397000" y="4191000"/>
            <a:ext cx="558800" cy="330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D7FF3C"/>
                </a:solidFill>
                <a:latin typeface="Consolas"/>
                <a:cs typeface="Consolas"/>
              </a:rPr>
              <a:t>R4</a:t>
            </a:r>
          </a:p>
        </p:txBody>
      </p:sp>
      <p:sp>
        <p:nvSpPr>
          <p:cNvPr id="126" name="Goal name R4"/>
          <p:cNvSpPr/>
          <p:nvPr/>
        </p:nvSpPr>
        <p:spPr>
          <a:xfrm>
            <a:off x="2082800" y="4191000"/>
            <a:ext cx="2260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rgbClr val="121212"/>
                </a:solidFill>
                <a:latin typeface="Arial"/>
                <a:cs typeface="Arial"/>
              </a:rPr>
              <a:t>Recuperación precisa</a:t>
            </a:r>
          </a:p>
        </p:txBody>
      </p:sp>
      <p:sp>
        <p:nvSpPr>
          <p:cNvPr id="127" name="Goal meta R4"/>
          <p:cNvSpPr/>
          <p:nvPr/>
        </p:nvSpPr>
        <p:spPr>
          <a:xfrm>
            <a:off x="1397000" y="4673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 Black"/>
                <a:cs typeface="Arial Black"/>
              </a:rPr>
              <a:t>Hit rate@4 ≥ 0,90 · recall ≥ 0,85</a:t>
            </a:r>
          </a:p>
        </p:txBody>
      </p:sp>
      <p:sp>
        <p:nvSpPr>
          <p:cNvPr id="128" name="Goal rule R4"/>
          <p:cNvSpPr/>
          <p:nvPr/>
        </p:nvSpPr>
        <p:spPr>
          <a:xfrm>
            <a:off x="1397000" y="5410200"/>
            <a:ext cx="29464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9" name="Goal measure R4"/>
          <p:cNvSpPr/>
          <p:nvPr/>
        </p:nvSpPr>
        <p:spPr>
          <a:xfrm>
            <a:off x="1397000" y="54864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121212"/>
                </a:solidFill>
                <a:latin typeface="Consolas"/>
                <a:cs typeface="Consolas"/>
              </a:rPr>
              <a:t>MIDE › </a:t>
            </a:r>
            <a:r>
              <a:rPr lang="es-CL" sz="1200" b="0" dirty="0">
                <a:solidFill>
                  <a:srgbClr val="121212"/>
                </a:solidFill>
                <a:latin typeface="Consolas"/>
                <a:cs typeface="Consolas"/>
              </a:rPr>
              <a:t>18 preguntas etiquetadas</a:t>
            </a:r>
          </a:p>
        </p:txBody>
      </p:sp>
      <p:sp>
        <p:nvSpPr>
          <p:cNvPr id="130" name="Goal card R5"/>
          <p:cNvSpPr/>
          <p:nvPr/>
        </p:nvSpPr>
        <p:spPr>
          <a:xfrm>
            <a:off x="4787900" y="4013200"/>
            <a:ext cx="327660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31" name="Goal tag R5"/>
          <p:cNvSpPr/>
          <p:nvPr/>
        </p:nvSpPr>
        <p:spPr>
          <a:xfrm>
            <a:off x="4965700" y="4191000"/>
            <a:ext cx="558800" cy="330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D7FF3C"/>
                </a:solidFill>
                <a:latin typeface="Consolas"/>
                <a:cs typeface="Consolas"/>
              </a:rPr>
              <a:t>R5</a:t>
            </a:r>
          </a:p>
        </p:txBody>
      </p:sp>
      <p:sp>
        <p:nvSpPr>
          <p:cNvPr id="132" name="Goal name R5"/>
          <p:cNvSpPr/>
          <p:nvPr/>
        </p:nvSpPr>
        <p:spPr>
          <a:xfrm>
            <a:off x="5651500" y="4191000"/>
            <a:ext cx="2260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rgbClr val="121212"/>
                </a:solidFill>
                <a:latin typeface="Arial"/>
                <a:cs typeface="Arial"/>
              </a:rPr>
              <a:t>Trazabilidad</a:t>
            </a:r>
          </a:p>
        </p:txBody>
      </p:sp>
      <p:sp>
        <p:nvSpPr>
          <p:cNvPr id="133" name="Goal meta R5"/>
          <p:cNvSpPr/>
          <p:nvPr/>
        </p:nvSpPr>
        <p:spPr>
          <a:xfrm>
            <a:off x="4965700" y="4673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 Black"/>
                <a:cs typeface="Arial Black"/>
              </a:rPr>
              <a:t>100% con "Fuentes: archivo §sección"</a:t>
            </a:r>
          </a:p>
        </p:txBody>
      </p:sp>
      <p:sp>
        <p:nvSpPr>
          <p:cNvPr id="134" name="Goal rule R5"/>
          <p:cNvSpPr/>
          <p:nvPr/>
        </p:nvSpPr>
        <p:spPr>
          <a:xfrm>
            <a:off x="4965700" y="5410200"/>
            <a:ext cx="29464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35" name="Goal measure R5"/>
          <p:cNvSpPr/>
          <p:nvPr/>
        </p:nvSpPr>
        <p:spPr>
          <a:xfrm>
            <a:off x="4965700" y="54864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121212"/>
                </a:solidFill>
                <a:latin typeface="Consolas"/>
                <a:cs typeface="Consolas"/>
              </a:rPr>
              <a:t>MIDE › </a:t>
            </a:r>
            <a:r>
              <a:rPr lang="es-CL" sz="1200" b="0" dirty="0">
                <a:solidFill>
                  <a:srgbClr val="121212"/>
                </a:solidFill>
                <a:latin typeface="Consolas"/>
                <a:cs typeface="Consolas"/>
              </a:rPr>
              <a:t>Tasa de citas</a:t>
            </a:r>
          </a:p>
        </p:txBody>
      </p:sp>
      <p:sp>
        <p:nvSpPr>
          <p:cNvPr id="136" name="Goal card R6"/>
          <p:cNvSpPr/>
          <p:nvPr/>
        </p:nvSpPr>
        <p:spPr>
          <a:xfrm>
            <a:off x="8356600" y="4013200"/>
            <a:ext cx="3276600" cy="187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37" name="Goal tag R6"/>
          <p:cNvSpPr/>
          <p:nvPr/>
        </p:nvSpPr>
        <p:spPr>
          <a:xfrm>
            <a:off x="8534400" y="4191000"/>
            <a:ext cx="558800" cy="330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D7FF3C"/>
                </a:solidFill>
                <a:latin typeface="Consolas"/>
                <a:cs typeface="Consolas"/>
              </a:rPr>
              <a:t>R6</a:t>
            </a:r>
          </a:p>
        </p:txBody>
      </p:sp>
      <p:sp>
        <p:nvSpPr>
          <p:cNvPr id="138" name="Goal name R6"/>
          <p:cNvSpPr/>
          <p:nvPr/>
        </p:nvSpPr>
        <p:spPr>
          <a:xfrm>
            <a:off x="9220200" y="4191000"/>
            <a:ext cx="2260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dirty="0">
                <a:solidFill>
                  <a:srgbClr val="121212"/>
                </a:solidFill>
                <a:latin typeface="Arial"/>
                <a:cs typeface="Arial"/>
              </a:rPr>
              <a:t>Privacidad</a:t>
            </a:r>
          </a:p>
        </p:txBody>
      </p:sp>
      <p:sp>
        <p:nvSpPr>
          <p:cNvPr id="139" name="Goal meta R6"/>
          <p:cNvSpPr/>
          <p:nvPr/>
        </p:nvSpPr>
        <p:spPr>
          <a:xfrm>
            <a:off x="8534400" y="4673600"/>
            <a:ext cx="294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 Black"/>
                <a:cs typeface="Arial Black"/>
              </a:rPr>
              <a:t>0 datos personales al LLM</a:t>
            </a:r>
          </a:p>
        </p:txBody>
      </p:sp>
      <p:sp>
        <p:nvSpPr>
          <p:cNvPr id="140" name="Goal rule R6"/>
          <p:cNvSpPr/>
          <p:nvPr/>
        </p:nvSpPr>
        <p:spPr>
          <a:xfrm>
            <a:off x="8534400" y="5410200"/>
            <a:ext cx="29464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41" name="Goal measure R6"/>
          <p:cNvSpPr/>
          <p:nvPr/>
        </p:nvSpPr>
        <p:spPr>
          <a:xfrm>
            <a:off x="8534400" y="5486400"/>
            <a:ext cx="29464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121212"/>
                </a:solidFill>
                <a:latin typeface="Consolas"/>
                <a:cs typeface="Consolas"/>
              </a:rPr>
              <a:t>MIDE › </a:t>
            </a:r>
            <a:r>
              <a:rPr lang="es-CL" sz="1200" b="0" dirty="0">
                <a:solidFill>
                  <a:srgbClr val="121212"/>
                </a:solidFill>
                <a:latin typeface="Consolas"/>
                <a:cs typeface="Consolas"/>
              </a:rPr>
              <a:t>Pruebas de guardrails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77FDB8E-1AC0-3566-476A-B1D0590B7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50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02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FUENTES DE INFORMACIÓN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04/12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Lo que sabe la empresa y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lo que exige la ley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Panel Internas"/>
          <p:cNvSpPr/>
          <p:nvPr/>
        </p:nvSpPr>
        <p:spPr>
          <a:xfrm>
            <a:off x="1219200" y="1854200"/>
            <a:ext cx="5080000" cy="4038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889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7" name="Panel title Internas"/>
          <p:cNvSpPr/>
          <p:nvPr/>
        </p:nvSpPr>
        <p:spPr>
          <a:xfrm>
            <a:off x="1498600" y="208280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Internas</a:t>
            </a:r>
          </a:p>
        </p:txBody>
      </p:sp>
      <p:sp>
        <p:nvSpPr>
          <p:cNvPr id="108" name="Panel tag Internas"/>
          <p:cNvSpPr/>
          <p:nvPr/>
        </p:nvSpPr>
        <p:spPr>
          <a:xfrm>
            <a:off x="3987800" y="2209800"/>
            <a:ext cx="2032000" cy="304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D7FF3C"/>
                </a:solidFill>
                <a:latin typeface="Consolas"/>
                <a:cs typeface="Consolas"/>
              </a:rPr>
              <a:t>colección "internos"</a:t>
            </a:r>
          </a:p>
        </p:txBody>
      </p:sp>
      <p:sp>
        <p:nvSpPr>
          <p:cNvPr id="109" name="Panel rule Internas"/>
          <p:cNvSpPr/>
          <p:nvPr/>
        </p:nvSpPr>
        <p:spPr>
          <a:xfrm>
            <a:off x="1498600" y="2794000"/>
            <a:ext cx="4521200" cy="25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0" name="Panel list Internas"/>
          <p:cNvSpPr/>
          <p:nvPr/>
        </p:nvSpPr>
        <p:spPr>
          <a:xfrm>
            <a:off x="1498600" y="2997200"/>
            <a:ext cx="4521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54000" indent="-254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4D1C"/>
              </a:buClr>
              <a:buFont typeface="Arial"/>
              <a:buChar char="■"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Política de garantías y devoluciones v3.2</a:t>
            </a:r>
          </a:p>
          <a:p>
            <a:pPr marL="254000" indent="-254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4D1C"/>
              </a:buClr>
              <a:buFont typeface="Arial"/>
              <a:buChar char="■"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Política de despachos v2.1</a:t>
            </a:r>
          </a:p>
          <a:p>
            <a:pPr marL="254000" indent="-254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4D1C"/>
              </a:buClr>
              <a:buFont typeface="Arial"/>
              <a:buChar char="■"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Preguntas frecuentes (pagos, boletas, tienda)</a:t>
            </a:r>
          </a:p>
          <a:p>
            <a:pPr marL="254000" indent="-254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4D1C"/>
              </a:buClr>
              <a:buFont typeface="Arial"/>
              <a:buChar char="■"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Catálogo: 8 SKU con precio, stock y garantía</a:t>
            </a:r>
          </a:p>
          <a:p>
            <a:pPr marL="254000" indent="-254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FF4D1C"/>
              </a:buClr>
              <a:buFont typeface="Arial"/>
              <a:buChar char="■"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Pedidos: consulta exacta por código TH‑XXXXX</a:t>
            </a:r>
          </a:p>
        </p:txBody>
      </p:sp>
      <p:sp>
        <p:nvSpPr>
          <p:cNvPr id="111" name="Panel Externas"/>
          <p:cNvSpPr/>
          <p:nvPr/>
        </p:nvSpPr>
        <p:spPr>
          <a:xfrm>
            <a:off x="6553200" y="1854200"/>
            <a:ext cx="5080000" cy="4038600"/>
          </a:xfrm>
          <a:prstGeom prst="rect">
            <a:avLst/>
          </a:prstGeom>
          <a:solidFill>
            <a:srgbClr val="121212"/>
          </a:solidFill>
          <a:ln w="25400">
            <a:solidFill>
              <a:srgbClr val="121212"/>
            </a:solidFill>
          </a:ln>
          <a:effectLst>
            <a:outerShdw dist="88900" dir="2700000" algn="tl" rotWithShape="0">
              <a:srgbClr val="FF4D1C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2" name="Panel title Externas"/>
          <p:cNvSpPr/>
          <p:nvPr/>
        </p:nvSpPr>
        <p:spPr>
          <a:xfrm>
            <a:off x="6832600" y="2082800"/>
            <a:ext cx="279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F3EEE4"/>
                </a:solidFill>
                <a:latin typeface="Arial Black"/>
                <a:cs typeface="Arial Black"/>
              </a:rPr>
              <a:t>Externas</a:t>
            </a:r>
          </a:p>
        </p:txBody>
      </p:sp>
      <p:sp>
        <p:nvSpPr>
          <p:cNvPr id="113" name="Panel tag Externas"/>
          <p:cNvSpPr/>
          <p:nvPr/>
        </p:nvSpPr>
        <p:spPr>
          <a:xfrm>
            <a:off x="9321800" y="2209800"/>
            <a:ext cx="2032000" cy="304800"/>
          </a:xfrm>
          <a:prstGeom prst="rect">
            <a:avLst/>
          </a:prstGeom>
          <a:solidFill>
            <a:srgbClr val="D7F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121212"/>
                </a:solidFill>
                <a:latin typeface="Consolas"/>
                <a:cs typeface="Consolas"/>
              </a:rPr>
              <a:t>colección "externos"</a:t>
            </a:r>
          </a:p>
        </p:txBody>
      </p:sp>
      <p:sp>
        <p:nvSpPr>
          <p:cNvPr id="114" name="Panel rule Externas"/>
          <p:cNvSpPr/>
          <p:nvPr/>
        </p:nvSpPr>
        <p:spPr>
          <a:xfrm>
            <a:off x="6832600" y="2794000"/>
            <a:ext cx="4521200" cy="25400"/>
          </a:xfrm>
          <a:prstGeom prst="rect">
            <a:avLst/>
          </a:prstGeom>
          <a:solidFill>
            <a:srgbClr val="F3EEE4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5" name="Panel list Externas"/>
          <p:cNvSpPr/>
          <p:nvPr/>
        </p:nvSpPr>
        <p:spPr>
          <a:xfrm>
            <a:off x="6832600" y="2997200"/>
            <a:ext cx="4521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54000" indent="-254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7FF3C"/>
              </a:buClr>
              <a:buFont typeface="Arial"/>
              <a:buChar char="■"/>
            </a:pPr>
            <a:r>
              <a:rPr lang="es-CL" sz="1600" b="0" dirty="0">
                <a:solidFill>
                  <a:srgbClr val="F3EEE4"/>
                </a:solidFill>
                <a:latin typeface="Arial"/>
                <a:cs typeface="Arial"/>
              </a:rPr>
              <a:t>Ley 19.496 (BCN): retracto art. 3 bis, garantía legal arts. 20-21</a:t>
            </a:r>
          </a:p>
          <a:p>
            <a:pPr marL="254000" indent="-254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7FF3C"/>
              </a:buClr>
              <a:buFont typeface="Arial"/>
              <a:buChar char="■"/>
            </a:pPr>
            <a:r>
              <a:rPr lang="es-CL" sz="1600" b="0" dirty="0">
                <a:solidFill>
                  <a:srgbClr val="F3EEE4"/>
                </a:solidFill>
                <a:latin typeface="Arial"/>
                <a:cs typeface="Arial"/>
              </a:rPr>
              <a:t>Ley 21.398 Pro Consumidor: garantía de 6 meses</a:t>
            </a:r>
          </a:p>
          <a:p>
            <a:pPr marL="254000" indent="-2540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D7FF3C"/>
              </a:buClr>
              <a:buFont typeface="Arial"/>
              <a:buChar char="■"/>
            </a:pPr>
            <a:r>
              <a:rPr lang="es-CL" sz="1600" b="0" dirty="0">
                <a:solidFill>
                  <a:srgbClr val="F3EEE4"/>
                </a:solidFill>
                <a:latin typeface="Arial"/>
                <a:cs typeface="Arial"/>
              </a:rPr>
              <a:t>Guía SERNAC: regla 6x3, plazos, productos dañados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FB39FB9-F8D5-8688-7DD6-A4F70B6A1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03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02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PROMPT ENGINEERING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05/12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Un prompt de sistema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en bloques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graphicFrame>
        <p:nvGraphicFramePr>
          <p:cNvPr id="106" name="Prompt table"/>
          <p:cNvGraphicFramePr>
            <a:graphicFrameLocks noGrp="1"/>
          </p:cNvGraphicFramePr>
          <p:nvPr/>
        </p:nvGraphicFramePr>
        <p:xfrm>
          <a:off x="1219200" y="1854200"/>
          <a:ext cx="10414000" cy="3865880"/>
        </p:xfrm>
        <a:graphic>
          <a:graphicData uri="http://schemas.openxmlformats.org/drawingml/2006/table">
            <a:tbl>
              <a:tblPr firstRow="1"/>
              <a:tblGrid>
                <a:gridCol w="44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spc="200" dirty="0">
                          <a:solidFill>
                            <a:srgbClr val="D7FF3C"/>
                          </a:solidFill>
                          <a:latin typeface="Consolas"/>
                          <a:cs typeface="Consolas"/>
                        </a:rPr>
                        <a:t>BLOQUE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25400" cap="flat" cmpd="sng">
                      <a:solidFill>
                        <a:srgbClr val="121212"/>
                      </a:solidFill>
                    </a:lnT>
                    <a:lnB w="25400" cap="flat" cmpd="sng">
                      <a:solidFill>
                        <a:srgbClr val="121212"/>
                      </a:solidFill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spc="200" dirty="0">
                          <a:solidFill>
                            <a:srgbClr val="121212"/>
                          </a:solidFill>
                          <a:latin typeface="Consolas"/>
                          <a:cs typeface="Consolas"/>
                        </a:rPr>
                        <a:t>TÉCNICA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25400" cap="flat" cmpd="sng">
                      <a:solidFill>
                        <a:srgbClr val="121212"/>
                      </a:solidFill>
                    </a:lnT>
                    <a:lnB w="254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 b="1" spc="200" dirty="0">
                          <a:solidFill>
                            <a:srgbClr val="121212"/>
                          </a:solidFill>
                          <a:latin typeface="Consolas"/>
                          <a:cs typeface="Consolas"/>
                        </a:rPr>
                        <a:t>PARA QUÉ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25400" cap="flat" cmpd="sng">
                      <a:solidFill>
                        <a:srgbClr val="121212"/>
                      </a:solidFill>
                    </a:lnT>
                    <a:lnB w="254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D7FF3C"/>
                          </a:solidFill>
                          <a:latin typeface="Consolas"/>
                          <a:cs typeface="Consolas"/>
                        </a:rPr>
                        <a:t># ROL: "Actúa como Tecno…"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A3A3A"/>
                      </a:solidFill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121212"/>
                          </a:solidFill>
                          <a:latin typeface="Arial Black"/>
                          <a:cs typeface="Arial Black"/>
                        </a:rPr>
                        <a:t>Role-prompting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0" dirty="0">
                          <a:solidFill>
                            <a:srgbClr val="121212"/>
                          </a:solidFill>
                          <a:latin typeface="Arial"/>
                          <a:cs typeface="Arial"/>
                        </a:rPr>
                        <a:t>Tono de marca y dominio acotado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254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D7FF3C"/>
                          </a:solidFill>
                          <a:latin typeface="Consolas"/>
                          <a:cs typeface="Consolas"/>
                        </a:rPr>
                        <a:t># HERRAMIENTAS + regla legal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A3A3A"/>
                      </a:solidFill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121212"/>
                          </a:solidFill>
                          <a:latin typeface="Arial Black"/>
                          <a:cs typeface="Arial Black"/>
                        </a:rPr>
                        <a:t>Tool-use explícito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0" dirty="0">
                          <a:solidFill>
                            <a:srgbClr val="121212"/>
                          </a:solidFill>
                          <a:latin typeface="Arial"/>
                          <a:cs typeface="Arial"/>
                        </a:rPr>
                        <a:t>Contrastar política interna con la ley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D7FF3C"/>
                          </a:solidFill>
                          <a:latin typeface="Consolas"/>
                          <a:cs typeface="Consolas"/>
                        </a:rPr>
                        <a:t># PROCESO en 4 pasos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A3A3A"/>
                      </a:solidFill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121212"/>
                          </a:solidFill>
                          <a:latin typeface="Arial Black"/>
                          <a:cs typeface="Arial Black"/>
                        </a:rPr>
                        <a:t>Chain-of-thought interno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0" dirty="0">
                          <a:solidFill>
                            <a:srgbClr val="121212"/>
                          </a:solidFill>
                          <a:latin typeface="Arial"/>
                          <a:cs typeface="Arial"/>
                        </a:rPr>
                        <a:t>Descomponer sin exponer el razonamiento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D7FF3C"/>
                          </a:solidFill>
                          <a:latin typeface="Consolas"/>
                          <a:cs typeface="Consolas"/>
                        </a:rPr>
                        <a:t># RESTRICCIONES: "usa estrictamente", "no asumas"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A3A3A"/>
                      </a:solidFill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121212"/>
                          </a:solidFill>
                          <a:latin typeface="Arial Black"/>
                          <a:cs typeface="Arial Black"/>
                        </a:rPr>
                        <a:t>Grounding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0" dirty="0">
                          <a:solidFill>
                            <a:srgbClr val="121212"/>
                          </a:solidFill>
                          <a:latin typeface="Arial"/>
                          <a:cs typeface="Arial"/>
                        </a:rPr>
                        <a:t>Reducir alucinaciones; derivar a humano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D7FF3C"/>
                          </a:solidFill>
                          <a:latin typeface="Consolas"/>
                          <a:cs typeface="Consolas"/>
                        </a:rPr>
                        <a:t># FORMATO: 120 palabras + "Fuentes:"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A3A3A"/>
                      </a:solidFill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121212"/>
                          </a:solidFill>
                          <a:latin typeface="Arial Black"/>
                          <a:cs typeface="Arial Black"/>
                        </a:rPr>
                        <a:t>Salida estructurada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0" dirty="0">
                          <a:solidFill>
                            <a:srgbClr val="121212"/>
                          </a:solidFill>
                          <a:latin typeface="Arial"/>
                          <a:cs typeface="Arial"/>
                        </a:rPr>
                        <a:t>Trazabilidad y menos tokens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dirty="0">
                          <a:solidFill>
                            <a:srgbClr val="D7FF3C"/>
                          </a:solidFill>
                          <a:latin typeface="Consolas"/>
                          <a:cs typeface="Consolas"/>
                        </a:rPr>
                        <a:t>2 ejemplos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3A3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3A3A3A"/>
                      </a:solidFill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0" dirty="0">
                          <a:solidFill>
                            <a:srgbClr val="121212"/>
                          </a:solidFill>
                          <a:latin typeface="Arial Black"/>
                          <a:cs typeface="Arial Black"/>
                        </a:rPr>
                        <a:t>Few-shot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500" b="0" dirty="0">
                          <a:solidFill>
                            <a:srgbClr val="121212"/>
                          </a:solidFill>
                          <a:latin typeface="Arial"/>
                          <a:cs typeface="Arial"/>
                        </a:rPr>
                        <a:t>Formato de citas y rechazo de temas ajenos</a:t>
                      </a:r>
                    </a:p>
                  </a:txBody>
                  <a:tcPr marL="152400" marR="152400" marT="88900" marB="889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1212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>
                      <a:solidFill>
                        <a:srgbClr val="12121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7" name="Config chip"/>
          <p:cNvSpPr/>
          <p:nvPr/>
        </p:nvSpPr>
        <p:spPr>
          <a:xfrm>
            <a:off x="1219200" y="5969000"/>
            <a:ext cx="10414000" cy="457200"/>
          </a:xfrm>
          <a:prstGeom prst="rect">
            <a:avLst/>
          </a:prstGeom>
          <a:solidFill>
            <a:srgbClr val="D7FF3C"/>
          </a:solidFill>
          <a:ln w="25400">
            <a:solidFill>
              <a:srgbClr val="121212"/>
            </a:solidFill>
          </a:ln>
          <a:effectLst>
            <a:outerShdw dist="63500" dir="2700000" algn="tl" rotWithShape="0">
              <a:srgbClr val="121212"/>
            </a:outerShdw>
          </a:effectLst>
        </p:spPr>
        <p:txBody>
          <a:bodyPr wrap="square" lIns="17780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dirty="0">
                <a:solidFill>
                  <a:srgbClr val="121212"/>
                </a:solidFill>
                <a:latin typeface="Consolas"/>
                <a:cs typeface="Consolas"/>
              </a:rPr>
              <a:t>Temperatura 0,2</a:t>
            </a:r>
            <a:r>
              <a:rPr lang="es-CL" sz="1300" b="0" dirty="0">
                <a:solidFill>
                  <a:srgbClr val="121212"/>
                </a:solidFill>
                <a:latin typeface="Consolas"/>
                <a:cs typeface="Consolas"/>
              </a:rPr>
              <a:t>  ·  contexto inyectado con etiquetas &lt;fragmento fuente="…" seccion="…" score="…"&gt;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5A432FA-B127-C733-6A39-D50330F29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988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02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PIPELINE RAG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06/12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Recuperar,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aumentar</a:t>
            </a: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, generar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Step Ingesta"/>
          <p:cNvSpPr/>
          <p:nvPr/>
        </p:nvSpPr>
        <p:spPr>
          <a:xfrm>
            <a:off x="1219200" y="1828800"/>
            <a:ext cx="1854200" cy="111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635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7" name="Step num Ingesta"/>
          <p:cNvSpPr/>
          <p:nvPr/>
        </p:nvSpPr>
        <p:spPr>
          <a:xfrm>
            <a:off x="1346200" y="1905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6B665E"/>
                </a:solidFill>
                <a:latin typeface="Consolas"/>
                <a:cs typeface="Consolas"/>
              </a:rPr>
              <a:t>01</a:t>
            </a:r>
          </a:p>
        </p:txBody>
      </p:sp>
      <p:sp>
        <p:nvSpPr>
          <p:cNvPr id="108" name="Step name Ingesta"/>
          <p:cNvSpPr/>
          <p:nvPr/>
        </p:nvSpPr>
        <p:spPr>
          <a:xfrm>
            <a:off x="1346200" y="2184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121212"/>
                </a:solidFill>
                <a:latin typeface="Arial Black"/>
                <a:cs typeface="Arial Black"/>
              </a:rPr>
              <a:t>Ingesta</a:t>
            </a:r>
          </a:p>
        </p:txBody>
      </p:sp>
      <p:sp>
        <p:nvSpPr>
          <p:cNvPr id="109" name="Step detail Ingesta"/>
          <p:cNvSpPr/>
          <p:nvPr/>
        </p:nvSpPr>
        <p:spPr>
          <a:xfrm>
            <a:off x="1346200" y="24892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121212"/>
                </a:solidFill>
                <a:latin typeface="Consolas"/>
                <a:cs typeface="Consolas"/>
              </a:rPr>
              <a:t>split por sección ## + 700/120</a:t>
            </a:r>
          </a:p>
        </p:txBody>
      </p:sp>
      <p:sp>
        <p:nvSpPr>
          <p:cNvPr id="110" name="Step arrow 0"/>
          <p:cNvSpPr/>
          <p:nvPr/>
        </p:nvSpPr>
        <p:spPr>
          <a:xfrm>
            <a:off x="3073400" y="2235200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dirty="0">
                <a:solidFill>
                  <a:srgbClr val="121212"/>
                </a:solidFill>
                <a:latin typeface="Arial Black"/>
                <a:cs typeface="Arial Black"/>
              </a:rPr>
              <a:t>›</a:t>
            </a:r>
          </a:p>
        </p:txBody>
      </p:sp>
      <p:sp>
        <p:nvSpPr>
          <p:cNvPr id="111" name="Step Embeddings"/>
          <p:cNvSpPr/>
          <p:nvPr/>
        </p:nvSpPr>
        <p:spPr>
          <a:xfrm>
            <a:off x="3359150" y="1828800"/>
            <a:ext cx="1854200" cy="111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635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2" name="Step num Embeddings"/>
          <p:cNvSpPr/>
          <p:nvPr/>
        </p:nvSpPr>
        <p:spPr>
          <a:xfrm>
            <a:off x="3486150" y="1905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6B665E"/>
                </a:solidFill>
                <a:latin typeface="Consolas"/>
                <a:cs typeface="Consolas"/>
              </a:rPr>
              <a:t>02</a:t>
            </a:r>
          </a:p>
        </p:txBody>
      </p:sp>
      <p:sp>
        <p:nvSpPr>
          <p:cNvPr id="113" name="Step name Embeddings"/>
          <p:cNvSpPr/>
          <p:nvPr/>
        </p:nvSpPr>
        <p:spPr>
          <a:xfrm>
            <a:off x="3486150" y="2184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121212"/>
                </a:solidFill>
                <a:latin typeface="Arial Black"/>
                <a:cs typeface="Arial Black"/>
              </a:rPr>
              <a:t>Embeddings</a:t>
            </a:r>
          </a:p>
        </p:txBody>
      </p:sp>
      <p:sp>
        <p:nvSpPr>
          <p:cNvPr id="114" name="Step detail Embeddings"/>
          <p:cNvSpPr/>
          <p:nvPr/>
        </p:nvSpPr>
        <p:spPr>
          <a:xfrm>
            <a:off x="3486150" y="24892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121212"/>
                </a:solidFill>
                <a:latin typeface="Consolas"/>
                <a:cs typeface="Consolas"/>
              </a:rPr>
              <a:t>gemini-embedding-001</a:t>
            </a:r>
          </a:p>
        </p:txBody>
      </p:sp>
      <p:sp>
        <p:nvSpPr>
          <p:cNvPr id="115" name="Step arrow 1"/>
          <p:cNvSpPr/>
          <p:nvPr/>
        </p:nvSpPr>
        <p:spPr>
          <a:xfrm>
            <a:off x="5213350" y="2235200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dirty="0">
                <a:solidFill>
                  <a:srgbClr val="121212"/>
                </a:solidFill>
                <a:latin typeface="Arial Black"/>
                <a:cs typeface="Arial Black"/>
              </a:rPr>
              <a:t>›</a:t>
            </a:r>
          </a:p>
        </p:txBody>
      </p:sp>
      <p:sp>
        <p:nvSpPr>
          <p:cNvPr id="116" name="Step Chroma"/>
          <p:cNvSpPr/>
          <p:nvPr/>
        </p:nvSpPr>
        <p:spPr>
          <a:xfrm>
            <a:off x="5499100" y="1828800"/>
            <a:ext cx="1854200" cy="111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635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7" name="Step num Chroma"/>
          <p:cNvSpPr/>
          <p:nvPr/>
        </p:nvSpPr>
        <p:spPr>
          <a:xfrm>
            <a:off x="5626100" y="1905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6B665E"/>
                </a:solidFill>
                <a:latin typeface="Consolas"/>
                <a:cs typeface="Consolas"/>
              </a:rPr>
              <a:t>03</a:t>
            </a:r>
          </a:p>
        </p:txBody>
      </p:sp>
      <p:sp>
        <p:nvSpPr>
          <p:cNvPr id="118" name="Step name Chroma"/>
          <p:cNvSpPr/>
          <p:nvPr/>
        </p:nvSpPr>
        <p:spPr>
          <a:xfrm>
            <a:off x="5626100" y="2184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121212"/>
                </a:solidFill>
                <a:latin typeface="Arial Black"/>
                <a:cs typeface="Arial Black"/>
              </a:rPr>
              <a:t>Chroma</a:t>
            </a:r>
          </a:p>
        </p:txBody>
      </p:sp>
      <p:sp>
        <p:nvSpPr>
          <p:cNvPr id="119" name="Step detail Chroma"/>
          <p:cNvSpPr/>
          <p:nvPr/>
        </p:nvSpPr>
        <p:spPr>
          <a:xfrm>
            <a:off x="5626100" y="24892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121212"/>
                </a:solidFill>
                <a:latin typeface="Consolas"/>
                <a:cs typeface="Consolas"/>
              </a:rPr>
              <a:t>coseno · 2 colecciones</a:t>
            </a:r>
          </a:p>
        </p:txBody>
      </p:sp>
      <p:sp>
        <p:nvSpPr>
          <p:cNvPr id="120" name="Step arrow 2"/>
          <p:cNvSpPr/>
          <p:nvPr/>
        </p:nvSpPr>
        <p:spPr>
          <a:xfrm>
            <a:off x="7353300" y="2235200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dirty="0">
                <a:solidFill>
                  <a:srgbClr val="121212"/>
                </a:solidFill>
                <a:latin typeface="Arial Black"/>
                <a:cs typeface="Arial Black"/>
              </a:rPr>
              <a:t>›</a:t>
            </a:r>
          </a:p>
        </p:txBody>
      </p:sp>
      <p:sp>
        <p:nvSpPr>
          <p:cNvPr id="121" name="Step Retriever"/>
          <p:cNvSpPr/>
          <p:nvPr/>
        </p:nvSpPr>
        <p:spPr>
          <a:xfrm>
            <a:off x="7639050" y="1828800"/>
            <a:ext cx="1854200" cy="111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635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2" name="Step num Retriever"/>
          <p:cNvSpPr/>
          <p:nvPr/>
        </p:nvSpPr>
        <p:spPr>
          <a:xfrm>
            <a:off x="7766050" y="1905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6B665E"/>
                </a:solidFill>
                <a:latin typeface="Consolas"/>
                <a:cs typeface="Consolas"/>
              </a:rPr>
              <a:t>04</a:t>
            </a:r>
          </a:p>
        </p:txBody>
      </p:sp>
      <p:sp>
        <p:nvSpPr>
          <p:cNvPr id="123" name="Step name Retriever"/>
          <p:cNvSpPr/>
          <p:nvPr/>
        </p:nvSpPr>
        <p:spPr>
          <a:xfrm>
            <a:off x="7766050" y="2184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121212"/>
                </a:solidFill>
                <a:latin typeface="Arial Black"/>
                <a:cs typeface="Arial Black"/>
              </a:rPr>
              <a:t>Retriever</a:t>
            </a:r>
          </a:p>
        </p:txBody>
      </p:sp>
      <p:sp>
        <p:nvSpPr>
          <p:cNvPr id="124" name="Step detail Retriever"/>
          <p:cNvSpPr/>
          <p:nvPr/>
        </p:nvSpPr>
        <p:spPr>
          <a:xfrm>
            <a:off x="7766050" y="24892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121212"/>
                </a:solidFill>
                <a:latin typeface="Consolas"/>
                <a:cs typeface="Consolas"/>
              </a:rPr>
              <a:t>top-k 4 + umbral</a:t>
            </a:r>
          </a:p>
        </p:txBody>
      </p:sp>
      <p:sp>
        <p:nvSpPr>
          <p:cNvPr id="125" name="Step arrow 3"/>
          <p:cNvSpPr/>
          <p:nvPr/>
        </p:nvSpPr>
        <p:spPr>
          <a:xfrm>
            <a:off x="9493250" y="2235200"/>
            <a:ext cx="285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dirty="0">
                <a:solidFill>
                  <a:srgbClr val="121212"/>
                </a:solidFill>
                <a:latin typeface="Arial Black"/>
                <a:cs typeface="Arial Black"/>
              </a:rPr>
              <a:t>›</a:t>
            </a:r>
          </a:p>
        </p:txBody>
      </p:sp>
      <p:sp>
        <p:nvSpPr>
          <p:cNvPr id="126" name="Step Gemini"/>
          <p:cNvSpPr/>
          <p:nvPr/>
        </p:nvSpPr>
        <p:spPr>
          <a:xfrm>
            <a:off x="9779000" y="1828800"/>
            <a:ext cx="1854200" cy="1117600"/>
          </a:xfrm>
          <a:prstGeom prst="rect">
            <a:avLst/>
          </a:prstGeom>
          <a:solidFill>
            <a:srgbClr val="D7FF3C"/>
          </a:solidFill>
          <a:ln w="25400">
            <a:solidFill>
              <a:srgbClr val="121212"/>
            </a:solidFill>
          </a:ln>
          <a:effectLst>
            <a:outerShdw dist="635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7" name="Step num Gemini"/>
          <p:cNvSpPr/>
          <p:nvPr/>
        </p:nvSpPr>
        <p:spPr>
          <a:xfrm>
            <a:off x="9906000" y="19050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6B665E"/>
                </a:solidFill>
                <a:latin typeface="Consolas"/>
                <a:cs typeface="Consolas"/>
              </a:rPr>
              <a:t>05</a:t>
            </a:r>
          </a:p>
        </p:txBody>
      </p:sp>
      <p:sp>
        <p:nvSpPr>
          <p:cNvPr id="128" name="Step name Gemini"/>
          <p:cNvSpPr/>
          <p:nvPr/>
        </p:nvSpPr>
        <p:spPr>
          <a:xfrm>
            <a:off x="9906000" y="2184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121212"/>
                </a:solidFill>
                <a:latin typeface="Arial Black"/>
                <a:cs typeface="Arial Black"/>
              </a:rPr>
              <a:t>Gemini</a:t>
            </a:r>
          </a:p>
        </p:txBody>
      </p:sp>
      <p:sp>
        <p:nvSpPr>
          <p:cNvPr id="129" name="Step detail Gemini"/>
          <p:cNvSpPr/>
          <p:nvPr/>
        </p:nvSpPr>
        <p:spPr>
          <a:xfrm>
            <a:off x="9906000" y="24892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121212"/>
                </a:solidFill>
                <a:latin typeface="Consolas"/>
                <a:cs typeface="Consolas"/>
              </a:rPr>
              <a:t>responde y cita</a:t>
            </a:r>
          </a:p>
        </p:txBody>
      </p:sp>
      <p:sp>
        <p:nvSpPr>
          <p:cNvPr id="130" name="Diagram card"/>
          <p:cNvSpPr/>
          <p:nvPr/>
        </p:nvSpPr>
        <p:spPr>
          <a:xfrm>
            <a:off x="1219200" y="3200400"/>
            <a:ext cx="10414000" cy="2997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889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31" name="Diagram tag"/>
          <p:cNvSpPr/>
          <p:nvPr/>
        </p:nvSpPr>
        <p:spPr>
          <a:xfrm>
            <a:off x="1219200" y="3200400"/>
            <a:ext cx="2413000" cy="279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1" dirty="0">
                <a:solidFill>
                  <a:srgbClr val="D7FF3C"/>
                </a:solidFill>
                <a:latin typeface="Consolas"/>
                <a:cs typeface="Consolas"/>
              </a:rPr>
              <a:t>SECUENCIA DE UNA CONSULTA</a:t>
            </a:r>
          </a:p>
        </p:txBody>
      </p:sp>
      <p:pic>
        <p:nvPicPr>
          <p:cNvPr id="15" name="Image 0" descr="Diagrama de secuencia: el cliente consulta, los guardrails enmascaran datos, el agente pide herramientas a Gemini, el retriever busca en Chroma y Gemini responde con fuen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905" y="3556000"/>
            <a:ext cx="7472589" cy="2540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66575EF-800A-FC46-A665-E48A81FDA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0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02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ARQUITECTURA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07/12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Arquitectura: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agente con herramientas</a:t>
            </a: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 sobre RAG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Diagram card"/>
          <p:cNvSpPr/>
          <p:nvPr/>
        </p:nvSpPr>
        <p:spPr>
          <a:xfrm>
            <a:off x="1219200" y="1778000"/>
            <a:ext cx="104140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889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pic>
        <p:nvPicPr>
          <p:cNvPr id="3" name="Image 0" descr="Arquitectura: cliente, guardrails, agente Tecno con memoria y prompt, LLM Gemini 3.8 Flash, cuatro herramientas, retriever sobre dos colecciones Chroma, ingesta offline, pedidos, evaluación y derivación a ejecutivo humano"/>
          <p:cNvPicPr>
            <a:picLocks noChangeAspect="1"/>
          </p:cNvPicPr>
          <p:nvPr/>
        </p:nvPicPr>
        <p:blipFill>
          <a:blip r:embed="rId3"/>
          <a:srcRect l="-11160" r="-11160"/>
          <a:stretch/>
        </p:blipFill>
        <p:spPr>
          <a:xfrm>
            <a:off x="1993466" y="1879600"/>
            <a:ext cx="8865467" cy="4368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49E20BF-4EEA-00F9-34D5-10DBD394D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84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03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DECISIONES DE DISEÑO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08/12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Cada decisión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responde a un objetivo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Rule 1"/>
          <p:cNvSpPr/>
          <p:nvPr/>
        </p:nvSpPr>
        <p:spPr>
          <a:xfrm>
            <a:off x="1219200" y="1854200"/>
            <a:ext cx="3276600" cy="50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7" name="Index 1"/>
          <p:cNvSpPr/>
          <p:nvPr/>
        </p:nvSpPr>
        <p:spPr>
          <a:xfrm>
            <a:off x="1193800" y="1930400"/>
            <a:ext cx="152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0" dirty="0">
                <a:ln w="15875">
                  <a:solidFill>
                    <a:srgbClr val="121212"/>
                  </a:solidFill>
                </a:ln>
                <a:noFill/>
                <a:latin typeface="Arial Black"/>
                <a:cs typeface="Arial Black"/>
              </a:rPr>
              <a:t>01</a:t>
            </a:r>
          </a:p>
        </p:txBody>
      </p:sp>
      <p:sp>
        <p:nvSpPr>
          <p:cNvPr id="108" name="Decision 1"/>
          <p:cNvSpPr/>
          <p:nvPr/>
        </p:nvSpPr>
        <p:spPr>
          <a:xfrm>
            <a:off x="1219200" y="2667000"/>
            <a:ext cx="3276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dirty="0">
                <a:solidFill>
                  <a:srgbClr val="121212"/>
                </a:solidFill>
                <a:latin typeface="Arial Black"/>
                <a:cs typeface="Arial Black"/>
              </a:rPr>
              <a:t>Agente con tools</a:t>
            </a:r>
          </a:p>
        </p:txBody>
      </p:sp>
      <p:sp>
        <p:nvSpPr>
          <p:cNvPr id="109" name="Reason 1"/>
          <p:cNvSpPr/>
          <p:nvPr/>
        </p:nvSpPr>
        <p:spPr>
          <a:xfrm>
            <a:off x="1219200" y="3048000"/>
            <a:ext cx="317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2A2A2A"/>
                </a:solidFill>
                <a:latin typeface="Arial"/>
                <a:cs typeface="Arial"/>
              </a:rPr>
              <a:t>Consultas mixtas: pedido + política + ley en una respuesta (R2)</a:t>
            </a:r>
          </a:p>
        </p:txBody>
      </p:sp>
      <p:sp>
        <p:nvSpPr>
          <p:cNvPr id="110" name="Rule 2"/>
          <p:cNvSpPr/>
          <p:nvPr/>
        </p:nvSpPr>
        <p:spPr>
          <a:xfrm>
            <a:off x="4787900" y="1854200"/>
            <a:ext cx="3276600" cy="50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1" name="Index 2"/>
          <p:cNvSpPr/>
          <p:nvPr/>
        </p:nvSpPr>
        <p:spPr>
          <a:xfrm>
            <a:off x="4762500" y="1930400"/>
            <a:ext cx="152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0" dirty="0">
                <a:ln w="15875">
                  <a:solidFill>
                    <a:srgbClr val="121212"/>
                  </a:solidFill>
                </a:ln>
                <a:noFill/>
                <a:latin typeface="Arial Black"/>
                <a:cs typeface="Arial Black"/>
              </a:rPr>
              <a:t>02</a:t>
            </a:r>
          </a:p>
        </p:txBody>
      </p:sp>
      <p:sp>
        <p:nvSpPr>
          <p:cNvPr id="112" name="Decision 2"/>
          <p:cNvSpPr/>
          <p:nvPr/>
        </p:nvSpPr>
        <p:spPr>
          <a:xfrm>
            <a:off x="4787900" y="2667000"/>
            <a:ext cx="3276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dirty="0">
                <a:solidFill>
                  <a:srgbClr val="121212"/>
                </a:solidFill>
                <a:latin typeface="Arial Black"/>
                <a:cs typeface="Arial Black"/>
              </a:rPr>
              <a:t>2 colecciones</a:t>
            </a:r>
          </a:p>
        </p:txBody>
      </p:sp>
      <p:sp>
        <p:nvSpPr>
          <p:cNvPr id="113" name="Reason 2"/>
          <p:cNvSpPr/>
          <p:nvPr/>
        </p:nvSpPr>
        <p:spPr>
          <a:xfrm>
            <a:off x="4787900" y="3048000"/>
            <a:ext cx="317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2A2A2A"/>
                </a:solidFill>
                <a:latin typeface="Arial"/>
                <a:cs typeface="Arial"/>
              </a:rPr>
              <a:t>Distinguir empresa y normativa al citar (R3, R5)</a:t>
            </a:r>
          </a:p>
        </p:txBody>
      </p:sp>
      <p:sp>
        <p:nvSpPr>
          <p:cNvPr id="114" name="Rule 3"/>
          <p:cNvSpPr/>
          <p:nvPr/>
        </p:nvSpPr>
        <p:spPr>
          <a:xfrm>
            <a:off x="8356600" y="1854200"/>
            <a:ext cx="3276600" cy="50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5" name="Index 3"/>
          <p:cNvSpPr/>
          <p:nvPr/>
        </p:nvSpPr>
        <p:spPr>
          <a:xfrm>
            <a:off x="8331200" y="1930400"/>
            <a:ext cx="152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0" dirty="0">
                <a:ln w="15875">
                  <a:solidFill>
                    <a:srgbClr val="121212"/>
                  </a:solidFill>
                </a:ln>
                <a:noFill/>
                <a:latin typeface="Arial Black"/>
                <a:cs typeface="Arial Black"/>
              </a:rPr>
              <a:t>03</a:t>
            </a:r>
          </a:p>
        </p:txBody>
      </p:sp>
      <p:sp>
        <p:nvSpPr>
          <p:cNvPr id="116" name="Decision 3"/>
          <p:cNvSpPr/>
          <p:nvPr/>
        </p:nvSpPr>
        <p:spPr>
          <a:xfrm>
            <a:off x="8356600" y="2667000"/>
            <a:ext cx="3276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dirty="0">
                <a:solidFill>
                  <a:srgbClr val="121212"/>
                </a:solidFill>
                <a:latin typeface="Arial Black"/>
                <a:cs typeface="Arial Black"/>
              </a:rPr>
              <a:t>Pedidos exactos</a:t>
            </a:r>
          </a:p>
        </p:txBody>
      </p:sp>
      <p:sp>
        <p:nvSpPr>
          <p:cNvPr id="117" name="Reason 3"/>
          <p:cNvSpPr/>
          <p:nvPr/>
        </p:nvSpPr>
        <p:spPr>
          <a:xfrm>
            <a:off x="8356600" y="3048000"/>
            <a:ext cx="317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2A2A2A"/>
                </a:solidFill>
                <a:latin typeface="Arial"/>
                <a:cs typeface="Arial"/>
              </a:rPr>
              <a:t>Sin búsqueda semántica: nunca devolver un pedido parecido</a:t>
            </a:r>
          </a:p>
        </p:txBody>
      </p:sp>
      <p:sp>
        <p:nvSpPr>
          <p:cNvPr id="118" name="Rule 4"/>
          <p:cNvSpPr/>
          <p:nvPr/>
        </p:nvSpPr>
        <p:spPr>
          <a:xfrm>
            <a:off x="1219200" y="4013200"/>
            <a:ext cx="3276600" cy="50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9" name="Index 4"/>
          <p:cNvSpPr/>
          <p:nvPr/>
        </p:nvSpPr>
        <p:spPr>
          <a:xfrm>
            <a:off x="1193800" y="4089400"/>
            <a:ext cx="152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0" dirty="0">
                <a:ln w="15875">
                  <a:solidFill>
                    <a:srgbClr val="121212"/>
                  </a:solidFill>
                </a:ln>
                <a:noFill/>
                <a:latin typeface="Arial Black"/>
                <a:cs typeface="Arial Black"/>
              </a:rPr>
              <a:t>04</a:t>
            </a:r>
          </a:p>
        </p:txBody>
      </p:sp>
      <p:sp>
        <p:nvSpPr>
          <p:cNvPr id="120" name="Decision 4"/>
          <p:cNvSpPr/>
          <p:nvPr/>
        </p:nvSpPr>
        <p:spPr>
          <a:xfrm>
            <a:off x="1219200" y="4826000"/>
            <a:ext cx="3276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dirty="0">
                <a:solidFill>
                  <a:srgbClr val="121212"/>
                </a:solidFill>
                <a:latin typeface="Arial Black"/>
                <a:cs typeface="Arial Black"/>
              </a:rPr>
              <a:t>Chunk 700 / 120</a:t>
            </a:r>
          </a:p>
        </p:txBody>
      </p:sp>
      <p:sp>
        <p:nvSpPr>
          <p:cNvPr id="121" name="Reason 4"/>
          <p:cNvSpPr/>
          <p:nvPr/>
        </p:nvSpPr>
        <p:spPr>
          <a:xfrm>
            <a:off x="1219200" y="5207000"/>
            <a:ext cx="317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2A2A2A"/>
                </a:solidFill>
                <a:latin typeface="Arial"/>
                <a:cs typeface="Arial"/>
              </a:rPr>
              <a:t>Una sección cabe completa; el solapamiento no corta reglas</a:t>
            </a:r>
          </a:p>
        </p:txBody>
      </p:sp>
      <p:sp>
        <p:nvSpPr>
          <p:cNvPr id="122" name="Rule 5"/>
          <p:cNvSpPr/>
          <p:nvPr/>
        </p:nvSpPr>
        <p:spPr>
          <a:xfrm>
            <a:off x="4787900" y="4013200"/>
            <a:ext cx="3276600" cy="50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3" name="Index 5"/>
          <p:cNvSpPr/>
          <p:nvPr/>
        </p:nvSpPr>
        <p:spPr>
          <a:xfrm>
            <a:off x="4762500" y="4089400"/>
            <a:ext cx="152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0" dirty="0">
                <a:ln w="15875">
                  <a:solidFill>
                    <a:srgbClr val="121212"/>
                  </a:solidFill>
                </a:ln>
                <a:noFill/>
                <a:latin typeface="Arial Black"/>
                <a:cs typeface="Arial Black"/>
              </a:rPr>
              <a:t>05</a:t>
            </a:r>
          </a:p>
        </p:txBody>
      </p:sp>
      <p:sp>
        <p:nvSpPr>
          <p:cNvPr id="124" name="Decision 5"/>
          <p:cNvSpPr/>
          <p:nvPr/>
        </p:nvSpPr>
        <p:spPr>
          <a:xfrm>
            <a:off x="4787900" y="4826000"/>
            <a:ext cx="3276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dirty="0">
                <a:solidFill>
                  <a:srgbClr val="121212"/>
                </a:solidFill>
                <a:latin typeface="Arial Black"/>
                <a:cs typeface="Arial Black"/>
              </a:rPr>
              <a:t>Umbral de score</a:t>
            </a:r>
          </a:p>
        </p:txBody>
      </p:sp>
      <p:sp>
        <p:nvSpPr>
          <p:cNvPr id="125" name="Reason 5"/>
          <p:cNvSpPr/>
          <p:nvPr/>
        </p:nvSpPr>
        <p:spPr>
          <a:xfrm>
            <a:off x="4787900" y="5207000"/>
            <a:ext cx="317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2A2A2A"/>
                </a:solidFill>
                <a:latin typeface="Arial"/>
                <a:cs typeface="Arial"/>
              </a:rPr>
              <a:t>Sin contexto relevante, reconoce el límite y deriva (R3)</a:t>
            </a:r>
          </a:p>
        </p:txBody>
      </p:sp>
      <p:sp>
        <p:nvSpPr>
          <p:cNvPr id="126" name="Rule 6"/>
          <p:cNvSpPr/>
          <p:nvPr/>
        </p:nvSpPr>
        <p:spPr>
          <a:xfrm>
            <a:off x="8356600" y="4013200"/>
            <a:ext cx="3276600" cy="50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7" name="Index 6"/>
          <p:cNvSpPr/>
          <p:nvPr/>
        </p:nvSpPr>
        <p:spPr>
          <a:xfrm>
            <a:off x="8331200" y="4089400"/>
            <a:ext cx="1524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000" b="0" dirty="0">
                <a:ln w="15875">
                  <a:solidFill>
                    <a:srgbClr val="121212"/>
                  </a:solidFill>
                </a:ln>
                <a:noFill/>
                <a:latin typeface="Arial Black"/>
                <a:cs typeface="Arial Black"/>
              </a:rPr>
              <a:t>06</a:t>
            </a:r>
          </a:p>
        </p:txBody>
      </p:sp>
      <p:sp>
        <p:nvSpPr>
          <p:cNvPr id="128" name="Decision 6"/>
          <p:cNvSpPr/>
          <p:nvPr/>
        </p:nvSpPr>
        <p:spPr>
          <a:xfrm>
            <a:off x="8356600" y="4826000"/>
            <a:ext cx="3276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dirty="0">
                <a:solidFill>
                  <a:srgbClr val="121212"/>
                </a:solidFill>
                <a:latin typeface="Arial Black"/>
                <a:cs typeface="Arial Black"/>
              </a:rPr>
              <a:t>Memoria de 6 turnos</a:t>
            </a:r>
          </a:p>
        </p:txBody>
      </p:sp>
      <p:sp>
        <p:nvSpPr>
          <p:cNvPr id="129" name="Reason 6"/>
          <p:cNvSpPr/>
          <p:nvPr/>
        </p:nvSpPr>
        <p:spPr>
          <a:xfrm>
            <a:off x="8356600" y="5207000"/>
            <a:ext cx="3175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dirty="0">
                <a:solidFill>
                  <a:srgbClr val="2A2A2A"/>
                </a:solidFill>
                <a:latin typeface="Arial"/>
                <a:cs typeface="Arial"/>
              </a:rPr>
              <a:t>Controla tokens y latencia; recuerda el último pedido (R1)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5ADCCC-30F6-A48C-E52E-7A20D154A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3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03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COHERENCIA DATOS → RESPUESTA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09/12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De la consulta a la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respuesta citada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Query card"/>
          <p:cNvSpPr/>
          <p:nvPr/>
        </p:nvSpPr>
        <p:spPr>
          <a:xfrm>
            <a:off x="1219200" y="1854200"/>
            <a:ext cx="2997200" cy="2895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7" name="Query label"/>
          <p:cNvSpPr/>
          <p:nvPr/>
        </p:nvSpPr>
        <p:spPr>
          <a:xfrm>
            <a:off x="1422400" y="2032000"/>
            <a:ext cx="2590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150" dirty="0">
                <a:solidFill>
                  <a:srgbClr val="6B665E"/>
                </a:solidFill>
                <a:latin typeface="Consolas"/>
                <a:cs typeface="Consolas"/>
              </a:rPr>
              <a:t>1 · CONSULTA</a:t>
            </a:r>
          </a:p>
        </p:txBody>
      </p:sp>
      <p:sp>
        <p:nvSpPr>
          <p:cNvPr id="108" name="Query text"/>
          <p:cNvSpPr/>
          <p:nvPr/>
        </p:nvSpPr>
        <p:spPr>
          <a:xfrm>
            <a:off x="1422400" y="2387600"/>
            <a:ext cx="25908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dirty="0">
                <a:solidFill>
                  <a:srgbClr val="121212"/>
                </a:solidFill>
                <a:latin typeface="Arial Black"/>
                <a:cs typeface="Arial Black"/>
              </a:rPr>
              <a:t>"¿Cuál es el estado de mi pedido TH‑10245?"</a:t>
            </a:r>
          </a:p>
        </p:txBody>
      </p:sp>
      <p:sp>
        <p:nvSpPr>
          <p:cNvPr id="109" name="Query tool"/>
          <p:cNvSpPr/>
          <p:nvPr/>
        </p:nvSpPr>
        <p:spPr>
          <a:xfrm>
            <a:off x="1422400" y="3759200"/>
            <a:ext cx="2590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CL" sz="1300" b="0" dirty="0">
                <a:solidFill>
                  <a:srgbClr val="2A2A2A"/>
                </a:solidFill>
                <a:latin typeface="Arial"/>
                <a:cs typeface="Arial"/>
              </a:rPr>
              <a:t>Herramienta elegida por el LLM: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121212"/>
                </a:solidFill>
                <a:latin typeface="Consolas"/>
                <a:cs typeface="Consolas"/>
              </a:rPr>
              <a:t>consultar_pedido</a:t>
            </a:r>
          </a:p>
        </p:txBody>
      </p:sp>
      <p:sp>
        <p:nvSpPr>
          <p:cNvPr id="110" name="Data card"/>
          <p:cNvSpPr/>
          <p:nvPr/>
        </p:nvSpPr>
        <p:spPr>
          <a:xfrm>
            <a:off x="4521200" y="1854200"/>
            <a:ext cx="3175000" cy="2895600"/>
          </a:xfrm>
          <a:prstGeom prst="rect">
            <a:avLst/>
          </a:prstGeom>
          <a:solidFill>
            <a:srgbClr val="121212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FF4D1C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1" name="Data label"/>
          <p:cNvSpPr/>
          <p:nvPr/>
        </p:nvSpPr>
        <p:spPr>
          <a:xfrm>
            <a:off x="4724400" y="2032000"/>
            <a:ext cx="2768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150" dirty="0">
                <a:solidFill>
                  <a:srgbClr val="A8A298"/>
                </a:solidFill>
                <a:latin typeface="Consolas"/>
                <a:cs typeface="Consolas"/>
              </a:rPr>
              <a:t>2 · DATO RECUPERADO</a:t>
            </a:r>
          </a:p>
        </p:txBody>
      </p:sp>
      <p:sp>
        <p:nvSpPr>
          <p:cNvPr id="112" name="Data source"/>
          <p:cNvSpPr/>
          <p:nvPr/>
        </p:nvSpPr>
        <p:spPr>
          <a:xfrm>
            <a:off x="4724400" y="2387600"/>
            <a:ext cx="27686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L" sz="1500" b="1" dirty="0">
                <a:solidFill>
                  <a:srgbClr val="D7FF3C"/>
                </a:solidFill>
                <a:latin typeface="Consolas"/>
                <a:cs typeface="Consolas"/>
              </a:rPr>
              <a:t>pedidos.csv §TH‑10245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dirty="0">
                <a:solidFill>
                  <a:srgbClr val="F3EEE4"/>
                </a:solidFill>
                <a:latin typeface="Consolas"/>
                <a:cs typeface="Consolas"/>
              </a:rPr>
              <a:t>score 1,0</a:t>
            </a:r>
          </a:p>
        </p:txBody>
      </p:sp>
      <p:sp>
        <p:nvSpPr>
          <p:cNvPr id="113" name="Data record"/>
          <p:cNvSpPr/>
          <p:nvPr/>
        </p:nvSpPr>
        <p:spPr>
          <a:xfrm>
            <a:off x="4724400" y="3124200"/>
            <a:ext cx="2768600" cy="144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L" sz="1300" b="1" dirty="0">
                <a:solidFill>
                  <a:srgbClr val="F3EEE4"/>
                </a:solidFill>
                <a:latin typeface="Consolas"/>
                <a:cs typeface="Consolas"/>
              </a:rPr>
              <a:t>DESPACHADO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L" sz="1300" b="0" dirty="0">
                <a:solidFill>
                  <a:srgbClr val="F3EEE4"/>
                </a:solidFill>
                <a:latin typeface="Consolas"/>
                <a:cs typeface="Consolas"/>
              </a:rPr>
              <a:t>· Valparaíso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L" sz="1300" b="0" dirty="0">
                <a:solidFill>
                  <a:srgbClr val="F3EEE4"/>
                </a:solidFill>
                <a:latin typeface="Consolas"/>
                <a:cs typeface="Consolas"/>
              </a:rPr>
              <a:t>· TH‑NB14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L" sz="1300" b="0" dirty="0">
                <a:solidFill>
                  <a:srgbClr val="F3EEE4"/>
                </a:solidFill>
                <a:latin typeface="Consolas"/>
                <a:cs typeface="Consolas"/>
              </a:rPr>
              <a:t>· Starken ST55410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CL" sz="1300" b="0" dirty="0">
                <a:solidFill>
                  <a:srgbClr val="F3EEE4"/>
                </a:solidFill>
                <a:latin typeface="Consolas"/>
                <a:cs typeface="Consolas"/>
              </a:rPr>
              <a:t>· entrega 2026‑09‑25</a:t>
            </a:r>
          </a:p>
        </p:txBody>
      </p:sp>
      <p:sp>
        <p:nvSpPr>
          <p:cNvPr id="114" name="Answer card"/>
          <p:cNvSpPr/>
          <p:nvPr/>
        </p:nvSpPr>
        <p:spPr>
          <a:xfrm>
            <a:off x="8001000" y="1854200"/>
            <a:ext cx="3632200" cy="2895600"/>
          </a:xfrm>
          <a:prstGeom prst="rect">
            <a:avLst/>
          </a:prstGeom>
          <a:solidFill>
            <a:srgbClr val="D7FF3C"/>
          </a:solidFill>
          <a:ln w="25400">
            <a:solidFill>
              <a:srgbClr val="121212"/>
            </a:solidFill>
          </a:ln>
          <a:effectLst>
            <a:outerShdw dist="76200" dir="2700000" algn="tl" rotWithShape="0">
              <a:srgbClr val="121212"/>
            </a:outerShdw>
          </a:effectLst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5" name="Answer label"/>
          <p:cNvSpPr/>
          <p:nvPr/>
        </p:nvSpPr>
        <p:spPr>
          <a:xfrm>
            <a:off x="8204200" y="2032000"/>
            <a:ext cx="3225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50" dirty="0">
                <a:solidFill>
                  <a:srgbClr val="121212"/>
                </a:solidFill>
                <a:latin typeface="Consolas"/>
                <a:cs typeface="Consolas"/>
              </a:rPr>
              <a:t>3 · RESPUESTA (gemini-3.8-flash)</a:t>
            </a:r>
          </a:p>
        </p:txBody>
      </p:sp>
      <p:sp>
        <p:nvSpPr>
          <p:cNvPr id="116" name="Answer text"/>
          <p:cNvSpPr/>
          <p:nvPr/>
        </p:nvSpPr>
        <p:spPr>
          <a:xfrm>
            <a:off x="8204200" y="2387600"/>
            <a:ext cx="3225800" cy="172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dirty="0">
                <a:solidFill>
                  <a:srgbClr val="121212"/>
                </a:solidFill>
                <a:latin typeface="Arial"/>
                <a:cs typeface="Arial"/>
              </a:rPr>
              <a:t>"Tu pedido TH‑10245 se encuentra en estado DESPACHADO. Transportista: Starken (ST55410). Destino: Región de Valparaíso. Entrega estimada: 25 de septiembre de 2026."</a:t>
            </a:r>
          </a:p>
        </p:txBody>
      </p:sp>
      <p:sp>
        <p:nvSpPr>
          <p:cNvPr id="117" name="Answer sources"/>
          <p:cNvSpPr/>
          <p:nvPr/>
        </p:nvSpPr>
        <p:spPr>
          <a:xfrm>
            <a:off x="8204200" y="4267200"/>
            <a:ext cx="3225800" cy="3302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10160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dirty="0">
                <a:solidFill>
                  <a:srgbClr val="D7FF3C"/>
                </a:solidFill>
                <a:latin typeface="Consolas"/>
                <a:cs typeface="Consolas"/>
              </a:rPr>
              <a:t>Fuentes: pedidos.csv §TH‑10245</a:t>
            </a:r>
          </a:p>
        </p:txBody>
      </p:sp>
      <p:sp>
        <p:nvSpPr>
          <p:cNvPr id="118" name="Arrow 1"/>
          <p:cNvSpPr/>
          <p:nvPr/>
        </p:nvSpPr>
        <p:spPr>
          <a:xfrm>
            <a:off x="4216400" y="3098800"/>
            <a:ext cx="304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dirty="0">
                <a:solidFill>
                  <a:srgbClr val="121212"/>
                </a:solidFill>
                <a:latin typeface="Arial Black"/>
                <a:cs typeface="Arial Black"/>
              </a:rPr>
              <a:t>›</a:t>
            </a:r>
          </a:p>
        </p:txBody>
      </p:sp>
      <p:sp>
        <p:nvSpPr>
          <p:cNvPr id="119" name="Arrow 2"/>
          <p:cNvSpPr/>
          <p:nvPr/>
        </p:nvSpPr>
        <p:spPr>
          <a:xfrm>
            <a:off x="7696200" y="3098800"/>
            <a:ext cx="3048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dirty="0">
                <a:solidFill>
                  <a:srgbClr val="121212"/>
                </a:solidFill>
                <a:latin typeface="Arial Black"/>
                <a:cs typeface="Arial Black"/>
              </a:rPr>
              <a:t>›</a:t>
            </a:r>
          </a:p>
        </p:txBody>
      </p:sp>
      <p:sp>
        <p:nvSpPr>
          <p:cNvPr id="120" name="Proof bar"/>
          <p:cNvSpPr/>
          <p:nvPr/>
        </p:nvSpPr>
        <p:spPr>
          <a:xfrm>
            <a:off x="1219200" y="5080000"/>
            <a:ext cx="101600" cy="9144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1" name="Proof text"/>
          <p:cNvSpPr/>
          <p:nvPr/>
        </p:nvSpPr>
        <p:spPr>
          <a:xfrm>
            <a:off x="1524000" y="5080000"/>
            <a:ext cx="10109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dirty="0">
                <a:solidFill>
                  <a:srgbClr val="121212"/>
                </a:solidFill>
                <a:latin typeface="Arial"/>
                <a:cs typeface="Arial"/>
              </a:rPr>
              <a:t>Cada dato de la respuesta coincide con el registro recuperado.</a:t>
            </a:r>
            <a:r>
              <a:rPr lang="es-CL" sz="1700" b="0" dirty="0">
                <a:solidFill>
                  <a:srgbClr val="121212"/>
                </a:solidFill>
                <a:latin typeface="Arial"/>
                <a:cs typeface="Arial"/>
              </a:rPr>
              <a:t> Con un código inexistente (TH‑10425), el agente no inventó un estado: ofreció derivar a un ejecutivo.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0C66A8-63EA-151A-AB5C-CF635A093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17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03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EVIDENCIA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10/12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Resultados con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embeddings de Gemini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Scoreboard"/>
          <p:cNvSpPr/>
          <p:nvPr/>
        </p:nvSpPr>
        <p:spPr>
          <a:xfrm>
            <a:off x="812800" y="1854200"/>
            <a:ext cx="11379200" cy="21844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7" name="Metric 1"/>
          <p:cNvSpPr/>
          <p:nvPr/>
        </p:nvSpPr>
        <p:spPr>
          <a:xfrm>
            <a:off x="1219200" y="2133600"/>
            <a:ext cx="241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0" dirty="0">
                <a:solidFill>
                  <a:srgbClr val="D7FF3C"/>
                </a:solidFill>
                <a:latin typeface="Arial Black"/>
                <a:cs typeface="Arial Black"/>
              </a:rPr>
              <a:t>1,00</a:t>
            </a:r>
          </a:p>
        </p:txBody>
      </p:sp>
      <p:sp>
        <p:nvSpPr>
          <p:cNvPr id="108" name="Metric label 1"/>
          <p:cNvSpPr/>
          <p:nvPr/>
        </p:nvSpPr>
        <p:spPr>
          <a:xfrm>
            <a:off x="1219200" y="32258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3EEE4"/>
                </a:solidFill>
                <a:latin typeface="Consolas"/>
                <a:cs typeface="Consolas"/>
              </a:rPr>
              <a:t>Hit rate@4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0" dirty="0">
                <a:solidFill>
                  <a:srgbClr val="A8A298"/>
                </a:solidFill>
                <a:latin typeface="Consolas"/>
                <a:cs typeface="Consolas"/>
              </a:rPr>
              <a:t>meta 0,90</a:t>
            </a:r>
          </a:p>
        </p:txBody>
      </p:sp>
      <p:sp>
        <p:nvSpPr>
          <p:cNvPr id="109" name="Divider 1"/>
          <p:cNvSpPr/>
          <p:nvPr/>
        </p:nvSpPr>
        <p:spPr>
          <a:xfrm>
            <a:off x="3670300" y="2159000"/>
            <a:ext cx="12700" cy="15748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0" name="Metric 2"/>
          <p:cNvSpPr/>
          <p:nvPr/>
        </p:nvSpPr>
        <p:spPr>
          <a:xfrm>
            <a:off x="3822700" y="2133600"/>
            <a:ext cx="241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0" dirty="0">
                <a:solidFill>
                  <a:srgbClr val="D7FF3C"/>
                </a:solidFill>
                <a:latin typeface="Arial Black"/>
                <a:cs typeface="Arial Black"/>
              </a:rPr>
              <a:t>1,00</a:t>
            </a:r>
          </a:p>
        </p:txBody>
      </p:sp>
      <p:sp>
        <p:nvSpPr>
          <p:cNvPr id="111" name="Metric label 2"/>
          <p:cNvSpPr/>
          <p:nvPr/>
        </p:nvSpPr>
        <p:spPr>
          <a:xfrm>
            <a:off x="3822700" y="32258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3EEE4"/>
                </a:solidFill>
                <a:latin typeface="Consolas"/>
                <a:cs typeface="Consolas"/>
              </a:rPr>
              <a:t>Context recall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0" dirty="0">
                <a:solidFill>
                  <a:srgbClr val="A8A298"/>
                </a:solidFill>
                <a:latin typeface="Consolas"/>
                <a:cs typeface="Consolas"/>
              </a:rPr>
              <a:t>meta 0,85</a:t>
            </a:r>
          </a:p>
        </p:txBody>
      </p:sp>
      <p:sp>
        <p:nvSpPr>
          <p:cNvPr id="112" name="Divider 2"/>
          <p:cNvSpPr/>
          <p:nvPr/>
        </p:nvSpPr>
        <p:spPr>
          <a:xfrm>
            <a:off x="6273800" y="2159000"/>
            <a:ext cx="12700" cy="15748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3" name="Metric 3"/>
          <p:cNvSpPr/>
          <p:nvPr/>
        </p:nvSpPr>
        <p:spPr>
          <a:xfrm>
            <a:off x="6426200" y="2133600"/>
            <a:ext cx="241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0" dirty="0">
                <a:solidFill>
                  <a:srgbClr val="FF4D1C"/>
                </a:solidFill>
                <a:latin typeface="Arial Black"/>
                <a:cs typeface="Arial Black"/>
              </a:rPr>
              <a:t>0,68</a:t>
            </a:r>
          </a:p>
        </p:txBody>
      </p:sp>
      <p:sp>
        <p:nvSpPr>
          <p:cNvPr id="114" name="Metric label 3"/>
          <p:cNvSpPr/>
          <p:nvPr/>
        </p:nvSpPr>
        <p:spPr>
          <a:xfrm>
            <a:off x="6426200" y="32258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3EEE4"/>
                </a:solidFill>
                <a:latin typeface="Consolas"/>
                <a:cs typeface="Consolas"/>
              </a:rPr>
              <a:t>Context precision</a:t>
            </a:r>
          </a:p>
        </p:txBody>
      </p:sp>
      <p:sp>
        <p:nvSpPr>
          <p:cNvPr id="115" name="Divider 3"/>
          <p:cNvSpPr/>
          <p:nvPr/>
        </p:nvSpPr>
        <p:spPr>
          <a:xfrm>
            <a:off x="8877300" y="2159000"/>
            <a:ext cx="12700" cy="15748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6" name="Metric 4"/>
          <p:cNvSpPr/>
          <p:nvPr/>
        </p:nvSpPr>
        <p:spPr>
          <a:xfrm>
            <a:off x="9029700" y="2133600"/>
            <a:ext cx="24130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0" dirty="0">
                <a:solidFill>
                  <a:srgbClr val="D7FF3C"/>
                </a:solidFill>
                <a:latin typeface="Arial Black"/>
                <a:cs typeface="Arial Black"/>
              </a:rPr>
              <a:t>16/16</a:t>
            </a:r>
          </a:p>
        </p:txBody>
      </p:sp>
      <p:sp>
        <p:nvSpPr>
          <p:cNvPr id="117" name="Metric label 4"/>
          <p:cNvSpPr/>
          <p:nvPr/>
        </p:nvSpPr>
        <p:spPr>
          <a:xfrm>
            <a:off x="9029700" y="3225800"/>
            <a:ext cx="2413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dirty="0">
                <a:solidFill>
                  <a:srgbClr val="F3EEE4"/>
                </a:solidFill>
                <a:latin typeface="Consolas"/>
                <a:cs typeface="Consolas"/>
              </a:rPr>
              <a:t>pruebas pytest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0" dirty="0">
                <a:solidFill>
                  <a:srgbClr val="A8A298"/>
                </a:solidFill>
                <a:latin typeface="Consolas"/>
                <a:cs typeface="Consolas"/>
              </a:rPr>
              <a:t>aprobadas</a:t>
            </a:r>
          </a:p>
        </p:txBody>
      </p:sp>
      <p:sp>
        <p:nvSpPr>
          <p:cNvPr id="118" name="Findings"/>
          <p:cNvSpPr/>
          <p:nvPr/>
        </p:nvSpPr>
        <p:spPr>
          <a:xfrm>
            <a:off x="1219200" y="4343400"/>
            <a:ext cx="10414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54000" indent="-25400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4D1C"/>
              </a:buClr>
              <a:buFont typeface="Arial"/>
              <a:buChar char="■"/>
            </a:pPr>
            <a:r>
              <a:rPr lang="es-CL" sz="1600" b="1" dirty="0">
                <a:solidFill>
                  <a:srgbClr val="121212"/>
                </a:solidFill>
                <a:latin typeface="Arial"/>
                <a:cs typeface="Arial"/>
              </a:rPr>
              <a:t>18 preguntas etiquetadas: </a:t>
            </a: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la fuente correcta quedó 1° en todas (MRR 1,0).</a:t>
            </a:r>
          </a:p>
          <a:p>
            <a:pPr marL="254000" indent="-25400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4D1C"/>
              </a:buClr>
              <a:buFont typeface="Arial"/>
              <a:buChar char="■"/>
            </a:pPr>
            <a:r>
              <a:rPr lang="es-CL" sz="1600" b="1" dirty="0">
                <a:solidFill>
                  <a:srgbClr val="121212"/>
                </a:solidFill>
                <a:latin typeface="Arial"/>
                <a:cs typeface="Arial"/>
              </a:rPr>
              <a:t>Con embeddings léxicos el hit rate era 0,944: </a:t>
            </a: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Q14 ("llegó dañado") se perdía.</a:t>
            </a:r>
          </a:p>
          <a:p>
            <a:pPr marL="254000" indent="-25400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Clr>
                <a:srgbClr val="FF4D1C"/>
              </a:buClr>
              <a:buFont typeface="Arial"/>
              <a:buChar char="■"/>
            </a:pPr>
            <a:r>
              <a:rPr lang="es-CL" sz="1600" b="1" dirty="0">
                <a:solidFill>
                  <a:srgbClr val="121212"/>
                </a:solidFill>
                <a:latin typeface="Arial"/>
                <a:cs typeface="Arial"/>
              </a:rPr>
              <a:t>La precisión baja </a:t>
            </a: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porque con umbral 0,55 pasan casi siempre los 4 fragmentos.</a:t>
            </a:r>
          </a:p>
        </p:txBody>
      </p:sp>
      <p:sp>
        <p:nvSpPr>
          <p:cNvPr id="119" name="Source"/>
          <p:cNvSpPr/>
          <p:nvPr/>
        </p:nvSpPr>
        <p:spPr>
          <a:xfrm>
            <a:off x="1219200" y="6223000"/>
            <a:ext cx="1041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00" b="0" dirty="0">
                <a:solidFill>
                  <a:srgbClr val="6B665E"/>
                </a:solidFill>
                <a:latin typeface="Consolas"/>
                <a:cs typeface="Consolas"/>
              </a:rPr>
              <a:t>Fuente: eval/resultados/recuperacion_gemini_k4.json · Fidelidad LLM-judge pendiente por cuota gratuita (errores 503/429)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67CA47-E050-F1F3-B05E-0891C7ECC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07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0" y="0"/>
            <a:ext cx="8128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ection number"/>
          <p:cNvSpPr/>
          <p:nvPr/>
        </p:nvSpPr>
        <p:spPr>
          <a:xfrm>
            <a:off x="0" y="279400"/>
            <a:ext cx="812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dirty="0">
                <a:solidFill>
                  <a:srgbClr val="D7FF3C"/>
                </a:solidFill>
                <a:latin typeface="Arial Black"/>
                <a:cs typeface="Arial Black"/>
              </a:rPr>
              <a:t>03</a:t>
            </a:r>
          </a:p>
        </p:txBody>
      </p:sp>
      <p:sp>
        <p:nvSpPr>
          <p:cNvPr id="102" name="Section label"/>
          <p:cNvSpPr/>
          <p:nvPr/>
        </p:nvSpPr>
        <p:spPr>
          <a:xfrm rot="16200000">
            <a:off x="-2006600" y="3556000"/>
            <a:ext cx="482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300" dirty="0">
                <a:solidFill>
                  <a:srgbClr val="F3EEE4"/>
                </a:solidFill>
                <a:latin typeface="Consolas"/>
                <a:cs typeface="Consolas"/>
              </a:rPr>
              <a:t>LIMITACIONES</a:t>
            </a:r>
          </a:p>
        </p:txBody>
      </p:sp>
      <p:sp>
        <p:nvSpPr>
          <p:cNvPr id="103" name="Page"/>
          <p:cNvSpPr/>
          <p:nvPr/>
        </p:nvSpPr>
        <p:spPr>
          <a:xfrm>
            <a:off x="0" y="6350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100" b="0" dirty="0">
                <a:solidFill>
                  <a:srgbClr val="A8A298"/>
                </a:solidFill>
                <a:latin typeface="Consolas"/>
                <a:cs typeface="Consolas"/>
              </a:rPr>
              <a:t>11/12</a:t>
            </a:r>
          </a:p>
        </p:txBody>
      </p:sp>
      <p:sp>
        <p:nvSpPr>
          <p:cNvPr id="104" name="Title"/>
          <p:cNvSpPr/>
          <p:nvPr/>
        </p:nvSpPr>
        <p:spPr>
          <a:xfrm>
            <a:off x="1219200" y="355600"/>
            <a:ext cx="10414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0" dirty="0">
                <a:solidFill>
                  <a:srgbClr val="121212"/>
                </a:solidFill>
                <a:latin typeface="Arial Black"/>
                <a:cs typeface="Arial Black"/>
              </a:rPr>
              <a:t>Riesgos y </a:t>
            </a:r>
            <a:r>
              <a:rPr lang="es-CL" sz="2800" b="0" dirty="0">
                <a:solidFill>
                  <a:srgbClr val="FF4D1C"/>
                </a:solidFill>
                <a:latin typeface="Arial Black"/>
                <a:cs typeface="Arial Black"/>
              </a:rPr>
              <a:t>cómo se mitigan</a:t>
            </a:r>
          </a:p>
        </p:txBody>
      </p:sp>
      <p:sp>
        <p:nvSpPr>
          <p:cNvPr id="105" name="Title bar"/>
          <p:cNvSpPr/>
          <p:nvPr/>
        </p:nvSpPr>
        <p:spPr>
          <a:xfrm>
            <a:off x="1219200" y="1473200"/>
            <a:ext cx="711200" cy="762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6" name="Head risk"/>
          <p:cNvSpPr/>
          <p:nvPr/>
        </p:nvSpPr>
        <p:spPr>
          <a:xfrm>
            <a:off x="1219200" y="1778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200" dirty="0">
                <a:solidFill>
                  <a:srgbClr val="6B665E"/>
                </a:solidFill>
                <a:latin typeface="Consolas"/>
                <a:cs typeface="Consolas"/>
              </a:rPr>
              <a:t>LIMITACIÓN</a:t>
            </a:r>
          </a:p>
        </p:txBody>
      </p:sp>
      <p:sp>
        <p:nvSpPr>
          <p:cNvPr id="107" name="Head mit"/>
          <p:cNvSpPr/>
          <p:nvPr/>
        </p:nvSpPr>
        <p:spPr>
          <a:xfrm>
            <a:off x="6096000" y="1778000"/>
            <a:ext cx="5537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200" dirty="0">
                <a:solidFill>
                  <a:srgbClr val="6B665E"/>
                </a:solidFill>
                <a:latin typeface="Consolas"/>
                <a:cs typeface="Consolas"/>
              </a:rPr>
              <a:t>MITIGACIÓN</a:t>
            </a:r>
          </a:p>
        </p:txBody>
      </p:sp>
      <p:sp>
        <p:nvSpPr>
          <p:cNvPr id="108" name="Risk 1"/>
          <p:cNvSpPr/>
          <p:nvPr/>
        </p:nvSpPr>
        <p:spPr>
          <a:xfrm>
            <a:off x="1219200" y="2133600"/>
            <a:ext cx="4318000" cy="609600"/>
          </a:xfrm>
          <a:prstGeom prst="rect">
            <a:avLst/>
          </a:prstGeom>
          <a:solidFill>
            <a:srgbClr val="FF4D1C"/>
          </a:solidFill>
          <a:ln w="25400">
            <a:solidFill>
              <a:srgbClr val="121212"/>
            </a:solidFill>
          </a:ln>
          <a:effectLst>
            <a:outerShdw dist="50800" dir="2700000" algn="tl" rotWithShape="0">
              <a:srgbClr val="121212"/>
            </a:outerShdw>
          </a:effectLst>
        </p:spPr>
        <p:txBody>
          <a:bodyPr wrap="square" lIns="1778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dirty="0">
                <a:solidFill>
                  <a:srgbClr val="121212"/>
                </a:solidFill>
                <a:latin typeface="Arial Black"/>
                <a:cs typeface="Arial Black"/>
              </a:rPr>
              <a:t>Alucinaciones del LLM</a:t>
            </a:r>
          </a:p>
        </p:txBody>
      </p:sp>
      <p:sp>
        <p:nvSpPr>
          <p:cNvPr id="109" name="Arrow 1"/>
          <p:cNvSpPr/>
          <p:nvPr/>
        </p:nvSpPr>
        <p:spPr>
          <a:xfrm>
            <a:off x="5588000" y="21336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dirty="0">
                <a:solidFill>
                  <a:srgbClr val="121212"/>
                </a:solidFill>
                <a:latin typeface="Arial Black"/>
                <a:cs typeface="Arial Black"/>
              </a:rPr>
              <a:t>→</a:t>
            </a:r>
          </a:p>
        </p:txBody>
      </p:sp>
      <p:sp>
        <p:nvSpPr>
          <p:cNvPr id="110" name="Mitigation 1"/>
          <p:cNvSpPr/>
          <p:nvPr/>
        </p:nvSpPr>
        <p:spPr>
          <a:xfrm>
            <a:off x="6096000" y="21336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Temperatura 0,2, grounding estricto, citas y derivación</a:t>
            </a:r>
          </a:p>
        </p:txBody>
      </p:sp>
      <p:sp>
        <p:nvSpPr>
          <p:cNvPr id="111" name="Mit rule 1"/>
          <p:cNvSpPr/>
          <p:nvPr/>
        </p:nvSpPr>
        <p:spPr>
          <a:xfrm>
            <a:off x="6096000" y="2743200"/>
            <a:ext cx="55372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2" name="Risk 2"/>
          <p:cNvSpPr/>
          <p:nvPr/>
        </p:nvSpPr>
        <p:spPr>
          <a:xfrm>
            <a:off x="1219200" y="2921000"/>
            <a:ext cx="43180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50800" dir="2700000" algn="tl" rotWithShape="0">
              <a:srgbClr val="121212"/>
            </a:outerShdw>
          </a:effectLst>
        </p:spPr>
        <p:txBody>
          <a:bodyPr wrap="square" lIns="1778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dirty="0">
                <a:solidFill>
                  <a:srgbClr val="121212"/>
                </a:solidFill>
                <a:latin typeface="Arial Black"/>
                <a:cs typeface="Arial Black"/>
              </a:rPr>
              <a:t>Datos simulados y extracto legal resumido</a:t>
            </a:r>
          </a:p>
        </p:txBody>
      </p:sp>
      <p:sp>
        <p:nvSpPr>
          <p:cNvPr id="113" name="Arrow 2"/>
          <p:cNvSpPr/>
          <p:nvPr/>
        </p:nvSpPr>
        <p:spPr>
          <a:xfrm>
            <a:off x="5588000" y="29210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dirty="0">
                <a:solidFill>
                  <a:srgbClr val="121212"/>
                </a:solidFill>
                <a:latin typeface="Arial Black"/>
                <a:cs typeface="Arial Black"/>
              </a:rPr>
              <a:t>→</a:t>
            </a:r>
          </a:p>
        </p:txBody>
      </p:sp>
      <p:sp>
        <p:nvSpPr>
          <p:cNvPr id="114" name="Mitigation 2"/>
          <p:cNvSpPr/>
          <p:nvPr/>
        </p:nvSpPr>
        <p:spPr>
          <a:xfrm>
            <a:off x="6096000" y="29210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Ingerir el texto oficial de la BCN en producción</a:t>
            </a:r>
          </a:p>
        </p:txBody>
      </p:sp>
      <p:sp>
        <p:nvSpPr>
          <p:cNvPr id="115" name="Mit rule 2"/>
          <p:cNvSpPr/>
          <p:nvPr/>
        </p:nvSpPr>
        <p:spPr>
          <a:xfrm>
            <a:off x="6096000" y="3530600"/>
            <a:ext cx="55372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16" name="Risk 3"/>
          <p:cNvSpPr/>
          <p:nvPr/>
        </p:nvSpPr>
        <p:spPr>
          <a:xfrm>
            <a:off x="1219200" y="3708400"/>
            <a:ext cx="4318000" cy="609600"/>
          </a:xfrm>
          <a:prstGeom prst="rect">
            <a:avLst/>
          </a:prstGeom>
          <a:solidFill>
            <a:srgbClr val="FF4D1C"/>
          </a:solidFill>
          <a:ln w="25400">
            <a:solidFill>
              <a:srgbClr val="121212"/>
            </a:solidFill>
          </a:ln>
          <a:effectLst>
            <a:outerShdw dist="50800" dir="2700000" algn="tl" rotWithShape="0">
              <a:srgbClr val="121212"/>
            </a:outerShdw>
          </a:effectLst>
        </p:spPr>
        <p:txBody>
          <a:bodyPr wrap="square" lIns="1778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dirty="0">
                <a:solidFill>
                  <a:srgbClr val="121212"/>
                </a:solidFill>
                <a:latin typeface="Arial Black"/>
                <a:cs typeface="Arial Black"/>
              </a:rPr>
              <a:t>Cuota y latencia de la API gratuita</a:t>
            </a:r>
          </a:p>
        </p:txBody>
      </p:sp>
      <p:sp>
        <p:nvSpPr>
          <p:cNvPr id="117" name="Arrow 3"/>
          <p:cNvSpPr/>
          <p:nvPr/>
        </p:nvSpPr>
        <p:spPr>
          <a:xfrm>
            <a:off x="5588000" y="37084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dirty="0">
                <a:solidFill>
                  <a:srgbClr val="121212"/>
                </a:solidFill>
                <a:latin typeface="Arial Black"/>
                <a:cs typeface="Arial Black"/>
              </a:rPr>
              <a:t>→</a:t>
            </a:r>
          </a:p>
        </p:txBody>
      </p:sp>
      <p:sp>
        <p:nvSpPr>
          <p:cNvPr id="118" name="Mitigation 3"/>
          <p:cNvSpPr/>
          <p:nvPr/>
        </p:nvSpPr>
        <p:spPr>
          <a:xfrm>
            <a:off x="6096000" y="37084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Plan pagado o caché de respuestas frecuentes</a:t>
            </a:r>
          </a:p>
        </p:txBody>
      </p:sp>
      <p:sp>
        <p:nvSpPr>
          <p:cNvPr id="119" name="Mit rule 3"/>
          <p:cNvSpPr/>
          <p:nvPr/>
        </p:nvSpPr>
        <p:spPr>
          <a:xfrm>
            <a:off x="6096000" y="4318000"/>
            <a:ext cx="55372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0" name="Risk 4"/>
          <p:cNvSpPr/>
          <p:nvPr/>
        </p:nvSpPr>
        <p:spPr>
          <a:xfrm>
            <a:off x="1219200" y="4495800"/>
            <a:ext cx="4318000" cy="609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21212"/>
            </a:solidFill>
          </a:ln>
          <a:effectLst>
            <a:outerShdw dist="50800" dir="2700000" algn="tl" rotWithShape="0">
              <a:srgbClr val="121212"/>
            </a:outerShdw>
          </a:effectLst>
        </p:spPr>
        <p:txBody>
          <a:bodyPr wrap="square" lIns="1778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dirty="0">
                <a:solidFill>
                  <a:srgbClr val="121212"/>
                </a:solidFill>
                <a:latin typeface="Arial Black"/>
                <a:cs typeface="Arial Black"/>
              </a:rPr>
              <a:t>Umbral dependiente del modelo</a:t>
            </a:r>
          </a:p>
        </p:txBody>
      </p:sp>
      <p:sp>
        <p:nvSpPr>
          <p:cNvPr id="121" name="Arrow 4"/>
          <p:cNvSpPr/>
          <p:nvPr/>
        </p:nvSpPr>
        <p:spPr>
          <a:xfrm>
            <a:off x="5588000" y="44958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dirty="0">
                <a:solidFill>
                  <a:srgbClr val="121212"/>
                </a:solidFill>
                <a:latin typeface="Arial Black"/>
                <a:cs typeface="Arial Black"/>
              </a:rPr>
              <a:t>→</a:t>
            </a:r>
          </a:p>
        </p:txBody>
      </p:sp>
      <p:sp>
        <p:nvSpPr>
          <p:cNvPr id="122" name="Mitigation 4"/>
          <p:cNvSpPr/>
          <p:nvPr/>
        </p:nvSpPr>
        <p:spPr>
          <a:xfrm>
            <a:off x="6096000" y="44958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Recalibrar con eval.evaluate --umbral</a:t>
            </a:r>
          </a:p>
        </p:txBody>
      </p:sp>
      <p:sp>
        <p:nvSpPr>
          <p:cNvPr id="123" name="Mit rule 4"/>
          <p:cNvSpPr/>
          <p:nvPr/>
        </p:nvSpPr>
        <p:spPr>
          <a:xfrm>
            <a:off x="6096000" y="5105400"/>
            <a:ext cx="55372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24" name="Risk 5"/>
          <p:cNvSpPr/>
          <p:nvPr/>
        </p:nvSpPr>
        <p:spPr>
          <a:xfrm>
            <a:off x="1219200" y="5283200"/>
            <a:ext cx="4318000" cy="609600"/>
          </a:xfrm>
          <a:prstGeom prst="rect">
            <a:avLst/>
          </a:prstGeom>
          <a:solidFill>
            <a:srgbClr val="FF4D1C"/>
          </a:solidFill>
          <a:ln w="25400">
            <a:solidFill>
              <a:srgbClr val="121212"/>
            </a:solidFill>
          </a:ln>
          <a:effectLst>
            <a:outerShdw dist="50800" dir="2700000" algn="tl" rotWithShape="0">
              <a:srgbClr val="121212"/>
            </a:outerShdw>
          </a:effectLst>
        </p:spPr>
        <p:txBody>
          <a:bodyPr wrap="square" lIns="177800" tIns="76200" rIns="76200" bIns="7620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dirty="0">
                <a:solidFill>
                  <a:srgbClr val="121212"/>
                </a:solidFill>
                <a:latin typeface="Arial Black"/>
                <a:cs typeface="Arial Black"/>
              </a:rPr>
              <a:t>Datos personales</a:t>
            </a:r>
          </a:p>
        </p:txBody>
      </p:sp>
      <p:sp>
        <p:nvSpPr>
          <p:cNvPr id="125" name="Arrow 5"/>
          <p:cNvSpPr/>
          <p:nvPr/>
        </p:nvSpPr>
        <p:spPr>
          <a:xfrm>
            <a:off x="5588000" y="5283200"/>
            <a:ext cx="45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dirty="0">
                <a:solidFill>
                  <a:srgbClr val="121212"/>
                </a:solidFill>
                <a:latin typeface="Arial Black"/>
                <a:cs typeface="Arial Black"/>
              </a:rPr>
              <a:t>→</a:t>
            </a:r>
          </a:p>
        </p:txBody>
      </p:sp>
      <p:sp>
        <p:nvSpPr>
          <p:cNvPr id="126" name="Mitigation 5"/>
          <p:cNvSpPr/>
          <p:nvPr/>
        </p:nvSpPr>
        <p:spPr>
          <a:xfrm>
            <a:off x="6096000" y="5283200"/>
            <a:ext cx="553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dirty="0">
                <a:solidFill>
                  <a:srgbClr val="121212"/>
                </a:solidFill>
                <a:latin typeface="Arial"/>
                <a:cs typeface="Arial"/>
              </a:rPr>
              <a:t>Enmascarado de RUT, correo, teléfono y tarjeta</a:t>
            </a:r>
          </a:p>
        </p:txBody>
      </p:sp>
      <p:sp>
        <p:nvSpPr>
          <p:cNvPr id="127" name="Mit rule 5"/>
          <p:cNvSpPr/>
          <p:nvPr/>
        </p:nvSpPr>
        <p:spPr>
          <a:xfrm>
            <a:off x="6096000" y="5892800"/>
            <a:ext cx="5537200" cy="1905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2C5278-22A7-6406-D700-FAE239A25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0" y="343568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2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pine"/>
          <p:cNvSpPr/>
          <p:nvPr/>
        </p:nvSpPr>
        <p:spPr>
          <a:xfrm>
            <a:off x="11074400" y="0"/>
            <a:ext cx="1117600" cy="6858000"/>
          </a:xfrm>
          <a:prstGeom prst="rect">
            <a:avLst/>
          </a:prstGeom>
          <a:solidFill>
            <a:srgbClr val="FF4D1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s-CL" dirty="0"/>
          </a:p>
        </p:txBody>
      </p:sp>
      <p:sp>
        <p:nvSpPr>
          <p:cNvPr id="101" name="Spine text"/>
          <p:cNvSpPr/>
          <p:nvPr/>
        </p:nvSpPr>
        <p:spPr>
          <a:xfrm rot="16200000">
            <a:off x="9093200" y="3022600"/>
            <a:ext cx="5080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spc="300" dirty="0">
                <a:solidFill>
                  <a:srgbClr val="121212"/>
                </a:solidFill>
                <a:latin typeface="Consolas"/>
                <a:cs typeface="Consolas"/>
              </a:rPr>
              <a:t>12/12  ·  CIERRE</a:t>
            </a:r>
          </a:p>
        </p:txBody>
      </p:sp>
      <p:sp>
        <p:nvSpPr>
          <p:cNvPr id="102" name="Kicker"/>
          <p:cNvSpPr/>
          <p:nvPr/>
        </p:nvSpPr>
        <p:spPr>
          <a:xfrm>
            <a:off x="812800" y="711200"/>
            <a:ext cx="1524000" cy="355600"/>
          </a:xfrm>
          <a:prstGeom prst="rect">
            <a:avLst/>
          </a:prstGeom>
          <a:noFill/>
          <a:ln w="19050">
            <a:solidFill>
              <a:srgbClr val="D7FF3C"/>
            </a:solidFill>
          </a:ln>
        </p:spPr>
        <p:txBody>
          <a:bodyPr wrap="square" lIns="127000" tIns="127000" rIns="127000" bIns="127000" rtlCol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 b="1" spc="150" dirty="0">
                <a:solidFill>
                  <a:srgbClr val="D7FF3C"/>
                </a:solidFill>
                <a:latin typeface="Consolas"/>
                <a:cs typeface="Consolas"/>
              </a:rPr>
              <a:t>CONCLUSIÓN</a:t>
            </a:r>
          </a:p>
        </p:txBody>
      </p:sp>
      <p:sp>
        <p:nvSpPr>
          <p:cNvPr id="103" name="Title"/>
          <p:cNvSpPr/>
          <p:nvPr/>
        </p:nvSpPr>
        <p:spPr>
          <a:xfrm>
            <a:off x="812800" y="1320800"/>
            <a:ext cx="9906000" cy="25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800" b="0" dirty="0">
                <a:solidFill>
                  <a:srgbClr val="F3EEE4"/>
                </a:solidFill>
                <a:latin typeface="Arial Black"/>
                <a:cs typeface="Arial Black"/>
              </a:rPr>
              <a:t>Respuestas inmediatas,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800" b="0" dirty="0">
                <a:solidFill>
                  <a:srgbClr val="F3EEE4"/>
                </a:solidFill>
                <a:latin typeface="Arial Black"/>
                <a:cs typeface="Arial Black"/>
              </a:rPr>
              <a:t>fundamentadas</a:t>
            </a:r>
          </a:p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800" b="0" dirty="0">
                <a:solidFill>
                  <a:srgbClr val="D7FF3C"/>
                </a:solidFill>
                <a:latin typeface="Arial Black"/>
                <a:cs typeface="Arial Black"/>
              </a:rPr>
              <a:t>y trazables</a:t>
            </a:r>
          </a:p>
        </p:txBody>
      </p:sp>
      <p:sp>
        <p:nvSpPr>
          <p:cNvPr id="104" name="Team conclusion"/>
          <p:cNvSpPr/>
          <p:nvPr/>
        </p:nvSpPr>
        <p:spPr>
          <a:xfrm>
            <a:off x="812800" y="4140200"/>
            <a:ext cx="8128000" cy="609600"/>
          </a:xfrm>
          <a:prstGeom prst="rect">
            <a:avLst/>
          </a:prstGeom>
          <a:noFill/>
          <a:ln w="19050">
            <a:solidFill>
              <a:srgbClr val="D7FF3C"/>
            </a:solidFill>
            <a:prstDash val="dash"/>
          </a:ln>
        </p:spPr>
        <p:txBody>
          <a:bodyPr wrap="square" lIns="17780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dirty="0">
                <a:solidFill>
                  <a:srgbClr val="D7FF3C"/>
                </a:solidFill>
                <a:latin typeface="Consolas"/>
                <a:cs typeface="Consolas"/>
              </a:rPr>
              <a:t>En simple: antes lo que tomaba horas, ahora toma segundos, y con la ley de su lado.</a:t>
            </a:r>
            <a:endParaRPr lang="es-CL" sz="1600" b="0" dirty="0">
              <a:solidFill>
                <a:srgbClr val="D7FF3C"/>
              </a:solidFill>
              <a:latin typeface="Consolas"/>
              <a:cs typeface="Consolas"/>
            </a:endParaRPr>
          </a:p>
        </p:txBody>
      </p:sp>
      <p:sp>
        <p:nvSpPr>
          <p:cNvPr id="105" name="Questions"/>
          <p:cNvSpPr/>
          <p:nvPr/>
        </p:nvSpPr>
        <p:spPr>
          <a:xfrm>
            <a:off x="812800" y="5588000"/>
            <a:ext cx="9906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dirty="0">
                <a:solidFill>
                  <a:srgbClr val="F3EEE4"/>
                </a:solidFill>
                <a:latin typeface="Arial Black"/>
                <a:cs typeface="Arial Black"/>
              </a:rPr>
              <a:t>¿Preguntas?</a:t>
            </a:r>
          </a:p>
        </p:txBody>
      </p:sp>
      <p:sp>
        <p:nvSpPr>
          <p:cNvPr id="106" name="Repo"/>
          <p:cNvSpPr/>
          <p:nvPr/>
        </p:nvSpPr>
        <p:spPr>
          <a:xfrm>
            <a:off x="812800" y="61976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0" dirty="0">
                <a:solidFill>
                  <a:srgbClr val="A8A298"/>
                </a:solidFill>
                <a:latin typeface="Consolas"/>
                <a:cs typeface="Consolas"/>
              </a:rPr>
              <a:t>Repositorio: </a:t>
            </a:r>
            <a:r>
              <a:rPr lang="es-CL" sz="1300" b="1" dirty="0">
                <a:solidFill>
                  <a:srgbClr val="F3EEE4"/>
                </a:solidFill>
                <a:latin typeface="Consolas"/>
                <a:cs typeface="Consolas"/>
              </a:rPr>
              <a:t>github.com/RicardoIllanes/asistente-retail-rag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78158E-B26A-6A6B-AC8B-E28E244B9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380" y="413752"/>
            <a:ext cx="1805420" cy="44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5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0370720716]">
  <a:themeElements>
    <a:clrScheme name="Tecno Brutal">
      <a:dk1>
        <a:srgbClr val="121212"/>
      </a:dk1>
      <a:lt1>
        <a:srgbClr val="F3EEE4"/>
      </a:lt1>
      <a:dk2>
        <a:srgbClr val="2A2A2A"/>
      </a:dk2>
      <a:lt2>
        <a:srgbClr val="E6DFD2"/>
      </a:lt2>
      <a:accent1>
        <a:srgbClr val="FF4D1C"/>
      </a:accent1>
      <a:accent2>
        <a:srgbClr val="D7FF3C"/>
      </a:accent2>
      <a:accent3>
        <a:srgbClr val="121212"/>
      </a:accent3>
      <a:accent4>
        <a:srgbClr val="6B665E"/>
      </a:accent4>
      <a:accent5>
        <a:srgbClr val="B8B0A2"/>
      </a:accent5>
      <a:accent6>
        <a:srgbClr val="FF8A5C"/>
      </a:accent6>
      <a:hlink>
        <a:srgbClr val="FF4D1C"/>
      </a:hlink>
      <a:folHlink>
        <a:srgbClr val="6B665E"/>
      </a:folHlink>
    </a:clrScheme>
    <a:fontScheme name="Office">
      <a:majorFont>
        <a:latin typeface="Arial Black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0BE21ED-DE52-4353-A039-F94A8A42DD1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78059bd-e0e7-4b07-8017-86cae220b76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1386</Words>
  <Application>Microsoft Office PowerPoint</Application>
  <PresentationFormat>Panorámica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Consolas</vt:lpstr>
      <vt:lpstr>Office Theme [1790370720716]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EP1 – Asistente Tecno (LLM + RAG)</dc:title>
  <dc:subject>PptxGenJS Presentation</dc:subject>
  <dc:creator>PptxGenJS</dc:creator>
  <cp:lastModifiedBy>RICARDO IGNACIO ILLANES SEGURA</cp:lastModifiedBy>
  <cp:revision>5</cp:revision>
  <dcterms:created xsi:type="dcterms:W3CDTF">2026-09-25T21:07:52Z</dcterms:created>
  <dcterms:modified xsi:type="dcterms:W3CDTF">2026-09-25T22:00:48Z</dcterms:modified>
</cp:coreProperties>
</file>